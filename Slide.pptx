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914400"/>
          </a:xfrm>
          <a:prstGeom prst="rect">
            <a:avLst/>
          </a:prstGeom>
          <a:noFill/>
        </p:spPr>
        <p:txBody>
          <a:bodyPr wrap="square">
            <a:spAutoFit/>
          </a:bodyPr>
          <a:lstStyle/>
          <a:p>
            <a:pPr algn="ctr">
              <a:defRPr sz="1600" b="1">
                <a:solidFill>
                  <a:srgbClr val="93C5FD"/>
                </a:solidFill>
              </a:defRPr>
            </a:pPr>
            <a:r>
              <a:t>TRƯỜNG ĐẠI HỌC TÀI NGUYÊN VÀ MÔI TRƯỜNG HÀ NỘI (HUNRE)</a:t>
            </a:r>
          </a:p>
          <a:p>
            <a:pPr algn="ctr">
              <a:defRPr sz="1300">
                <a:solidFill>
                  <a:srgbClr val="E2E8F0"/>
                </a:solidFill>
              </a:defRPr>
            </a:pPr>
            <a:r>
              <a:t>KHOA CÔNG NGHỆ THÔNG TIN • HỌC PHẦN: XỬ LÝ DỮ LIỆU LỚN (CTKU122)</a:t>
            </a:r>
          </a:p>
        </p:txBody>
      </p:sp>
      <p:sp>
        <p:nvSpPr>
          <p:cNvPr id="4" name="TextBox 3"/>
          <p:cNvSpPr txBox="1"/>
          <p:nvPr/>
        </p:nvSpPr>
        <p:spPr>
          <a:xfrm>
            <a:off x="914400" y="2011680"/>
            <a:ext cx="10362895" cy="2011680"/>
          </a:xfrm>
          <a:prstGeom prst="rect">
            <a:avLst/>
          </a:prstGeom>
          <a:noFill/>
        </p:spPr>
        <p:txBody>
          <a:bodyPr wrap="square">
            <a:spAutoFit/>
          </a:bodyPr>
          <a:lstStyle/>
          <a:p>
            <a:pPr algn="ctr">
              <a:defRPr sz="1600" b="1">
                <a:solidFill>
                  <a:srgbClr val="D97706"/>
                </a:solidFill>
              </a:defRPr>
            </a:pPr>
            <a:r>
              <a:t>BÁO CÁO BÀI TẬP LỚN • ĐỀ TÀI SỐ 01</a:t>
            </a:r>
          </a:p>
          <a:p>
            <a:pPr algn="ctr">
              <a:defRPr sz="2600" b="1">
                <a:solidFill>
                  <a:srgbClr val="FFFFFF"/>
                </a:solidFill>
              </a:defRPr>
            </a:pPr>
            <a:r>
              <a:t>XÂY DỰNG HỆ THỐNG PHÂN TÍCH VÀ GIÁM SÁT</a:t>
            </a:r>
            <a:br/>
            <a:r>
              <a:t>CHẤT LƯỢNG MẠNG VIỄN THÔNG (TELECOM QOS ANALYTICS)</a:t>
            </a:r>
            <a:br/>
            <a:r>
              <a:t>TRÊN NỀN TẢNG HADOOP, SPARK VÀ R</a:t>
            </a:r>
          </a:p>
        </p:txBody>
      </p:sp>
      <p:sp>
        <p:nvSpPr>
          <p:cNvPr id="5" name="Rounded Rectangle 4"/>
          <p:cNvSpPr/>
          <p:nvPr/>
        </p:nvSpPr>
        <p:spPr>
          <a:xfrm>
            <a:off x="1645920" y="4480560"/>
            <a:ext cx="8899855" cy="164592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572000"/>
            <a:ext cx="8534095" cy="1463040"/>
          </a:xfrm>
          <a:prstGeom prst="rect">
            <a:avLst/>
          </a:prstGeom>
          <a:noFill/>
        </p:spPr>
        <p:txBody>
          <a:bodyPr wrap="square">
            <a:spAutoFit/>
          </a:bodyPr>
          <a:lstStyle/>
          <a:p>
            <a:pPr>
              <a:defRPr sz="1200" b="1">
                <a:solidFill>
                  <a:srgbClr val="FFFFFF"/>
                </a:solidFill>
              </a:defRPr>
            </a:pPr>
            <a:r>
              <a:t>Sinh viên thực hiện:  1. Hoàng Ngọc Thi (Nhóm trưởng)   2. Nguyễn Viết Hoàng Anh   3. Nguyễn Việt Hòa   4. Nguyễn Quốc Anh</a:t>
            </a:r>
          </a:p>
          <a:p>
            <a:pPr>
              <a:defRPr sz="1200">
                <a:solidFill>
                  <a:srgbClr val="CBD5E1"/>
                </a:solidFill>
              </a:defRPr>
            </a:pPr>
            <a:r>
              <a:t>Lớp học phần:         ĐH13C2 • Khoa Công nghệ Thông tin</a:t>
            </a:r>
          </a:p>
          <a:p>
            <a:pPr>
              <a:defRPr sz="1200">
                <a:solidFill>
                  <a:srgbClr val="CBD5E1"/>
                </a:solidFill>
              </a:defRPr>
            </a:pPr>
            <a:r>
              <a:t>Giảng viên giảng dạy: ThS. / TS. Giảng viên phụ trách học phần</a:t>
            </a:r>
          </a:p>
          <a:p>
            <a:pPr algn="r">
              <a:defRPr sz="1200" i="1">
                <a:solidFill>
                  <a:srgbClr val="94A3B8"/>
                </a:solidFill>
              </a:defRPr>
            </a:pPr>
            <a:r>
              <a:t>Hà Nội, Năm học 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100" b="1">
                <a:solidFill>
                  <a:srgbClr val="94A3B8"/>
                </a:solidFill>
              </a:defRPr>
            </a:pPr>
            <a:r>
              <a:t>BÁO CÁO BÀI TẬP LỚN XỬ LÝ DỮ LIỆU LỚN (CTKU122)</a:t>
            </a:r>
          </a:p>
        </p:txBody>
      </p:sp>
      <p:sp>
        <p:nvSpPr>
          <p:cNvPr id="4" name="TextBox 3"/>
          <p:cNvSpPr txBox="1"/>
          <p:nvPr/>
        </p:nvSpPr>
        <p:spPr>
          <a:xfrm>
            <a:off x="731520" y="384048"/>
            <a:ext cx="10515600" cy="548640"/>
          </a:xfrm>
          <a:prstGeom prst="rect">
            <a:avLst/>
          </a:prstGeom>
          <a:noFill/>
        </p:spPr>
        <p:txBody>
          <a:bodyPr wrap="none">
            <a:spAutoFit/>
          </a:bodyPr>
          <a:lstStyle/>
          <a:p>
            <a:pPr>
              <a:defRPr sz="2200" b="1">
                <a:solidFill>
                  <a:srgbClr val="FFFFFF"/>
                </a:solidFill>
              </a:defRPr>
            </a:pPr>
            <a:r>
              <a:t>1. ĐẶT VẤN ĐỀ &amp; BA MỤC TIÊU KỸ THUẬT CỐT LÕI</a:t>
            </a:r>
          </a:p>
        </p:txBody>
      </p:sp>
      <p:sp>
        <p:nvSpPr>
          <p:cNvPr id="5" name="Rectangle 4"/>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754880" cy="4572000"/>
          </a:xfrm>
          <a:prstGeom prst="rect">
            <a:avLst/>
          </a:prstGeom>
          <a:noFill/>
        </p:spPr>
        <p:txBody>
          <a:bodyPr wrap="square">
            <a:spAutoFit/>
          </a:bodyPr>
          <a:lstStyle/>
          <a:p>
            <a:pPr>
              <a:defRPr sz="1600" b="1">
                <a:solidFill>
                  <a:srgbClr val="DC2626"/>
                </a:solidFill>
              </a:defRPr>
            </a:pPr>
            <a:r>
              <a:t>THÁCH THỨC VẬN HÀNH MẠNG VIỄN THÔNG</a:t>
            </a:r>
          </a:p>
          <a:p>
            <a:pPr>
              <a:spcAft>
                <a:spcPts val="800"/>
              </a:spcAft>
              <a:defRPr sz="1300">
                <a:solidFill>
                  <a:srgbClr val="334155"/>
                </a:solidFill>
              </a:defRPr>
            </a:pPr>
            <a:r>
              <a:t>• Hàng chục nghìn trạm BTS: 50,000+ trạm phát sóng, mỗi trạm gồm 3-6 cell vô tuyến (3G, 4G, 5G).</a:t>
            </a:r>
          </a:p>
          <a:p>
            <a:pPr>
              <a:spcAft>
                <a:spcPts val="800"/>
              </a:spcAft>
              <a:defRPr sz="1300">
                <a:solidFill>
                  <a:srgbClr val="334155"/>
                </a:solidFill>
              </a:defRPr>
            </a:pPr>
            <a:r>
              <a:t>• Áp lực dữ liệu bùng nổ: Hàng trăm nghìn bản ghi telemetry/giây; sinh ra từ 10 - 25 Terabyte log/ngày.</a:t>
            </a:r>
          </a:p>
          <a:p>
            <a:pPr>
              <a:spcAft>
                <a:spcPts val="800"/>
              </a:spcAft>
              <a:defRPr sz="1300">
                <a:solidFill>
                  <a:srgbClr val="334155"/>
                </a:solidFill>
              </a:defRPr>
            </a:pPr>
            <a:r>
              <a:t>• Bất lực của RDBMS truyền thống: Cơ sở dữ liệu quan hệ bị nghẽn, sập nguồn khi truy vấn và tổng hợp theo thời gian thực.</a:t>
            </a:r>
          </a:p>
          <a:p>
            <a:pPr>
              <a:spcAft>
                <a:spcPts val="800"/>
              </a:spcAft>
              <a:defRPr sz="1300">
                <a:solidFill>
                  <a:srgbClr val="334155"/>
                </a:solidFill>
              </a:defRPr>
            </a:pPr>
            <a:r>
              <a:t>• Phát hiện sự cố muộn màng: Khách hàng gặp rớt cuộc gọi nhiều lần và khiếu nại gay gắt mới phát hiện được cell quá tải.</a:t>
            </a:r>
          </a:p>
          <a:p>
            <a:pPr>
              <a:spcAft>
                <a:spcPts val="800"/>
              </a:spcAft>
              <a:defRPr sz="1300">
                <a:solidFill>
                  <a:srgbClr val="334155"/>
                </a:solidFill>
              </a:defRPr>
            </a:pPr>
            <a:r>
              <a:t>• Chi phí đầu tư CAPEX tốn kém: Thiếu căn cứ định lượng để nâng cấp trạm nghẽn thực sự hay điều chỉnh vô tuyến.</a:t>
            </a:r>
          </a:p>
        </p:txBody>
      </p:sp>
      <p:sp>
        <p:nvSpPr>
          <p:cNvPr id="8" name="Rounded Rectangle 7"/>
          <p:cNvSpPr/>
          <p:nvPr/>
        </p:nvSpPr>
        <p:spPr>
          <a:xfrm>
            <a:off x="6217920" y="1371600"/>
            <a:ext cx="5212080" cy="493776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572000"/>
          </a:xfrm>
          <a:prstGeom prst="rect">
            <a:avLst/>
          </a:prstGeom>
          <a:noFill/>
        </p:spPr>
        <p:txBody>
          <a:bodyPr wrap="square">
            <a:spAutoFit/>
          </a:bodyPr>
          <a:lstStyle/>
          <a:p>
            <a:pPr>
              <a:defRPr sz="1600" b="1">
                <a:solidFill>
                  <a:srgbClr val="059669"/>
                </a:solidFill>
              </a:defRPr>
            </a:pPr>
            <a:r>
              <a:t>BA MỤC TIÊU KỸ THUẬT CỐT LÕI CỦA ĐỀ TÀI</a:t>
            </a:r>
          </a:p>
          <a:p>
            <a:pPr>
              <a:spcBef>
                <a:spcPts val="800"/>
              </a:spcBef>
              <a:defRPr sz="1300" b="1">
                <a:solidFill>
                  <a:srgbClr val="0F172A"/>
                </a:solidFill>
              </a:defRPr>
            </a:pPr>
            <a:r>
              <a:t>🎯 MỤC TIÊU 1: GIẢM ĐỘ TRỄ MẠNG (LATENCY)</a:t>
            </a:r>
          </a:p>
          <a:p>
            <a:pPr>
              <a:spcAft>
                <a:spcPts val="800"/>
              </a:spcAft>
              <a:defRPr sz="1200">
                <a:solidFill>
                  <a:srgbClr val="334155"/>
                </a:solidFill>
              </a:defRPr>
            </a:pPr>
            <a:r>
              <a:t>Phát hiện chính xác các trạm BTS bị nghẽn đường truyền Backhaul và hàng đợi giao diện vô tuyến. Hỗ trợ định tuyến tối ưu lưu lượng để đưa độ trễ toàn mạng về mức chuẩn viễn thông &lt; 50 ms.</a:t>
            </a:r>
          </a:p>
          <a:p>
            <a:pPr>
              <a:spcBef>
                <a:spcPts val="800"/>
              </a:spcBef>
              <a:defRPr sz="1300" b="1">
                <a:solidFill>
                  <a:srgbClr val="0F172A"/>
                </a:solidFill>
              </a:defRPr>
            </a:pPr>
            <a:r>
              <a:t>🎯 MỤC TIÊU 2: GIẢM TỶ LỆ MẤT GÓI (PACKET LOSS)</a:t>
            </a:r>
          </a:p>
          <a:p>
            <a:pPr>
              <a:spcAft>
                <a:spcPts val="800"/>
              </a:spcAft>
              <a:defRPr sz="1200">
                <a:solidFill>
                  <a:srgbClr val="334155"/>
                </a:solidFill>
              </a:defRPr>
            </a:pPr>
            <a:r>
              <a:t>Cô lập các cell vô tuyến bị can nhiễu đồng kênh, lỗi công suất phát hoặc tràn bộ đệm định tuyến khi phục vụ trên 150 người dùng đồng thời, giữ tỷ lệ mất gói &lt; 1.0%.</a:t>
            </a:r>
          </a:p>
          <a:p>
            <a:pPr>
              <a:spcBef>
                <a:spcPts val="800"/>
              </a:spcBef>
              <a:defRPr sz="1300" b="1">
                <a:solidFill>
                  <a:srgbClr val="0F172A"/>
                </a:solidFill>
              </a:defRPr>
            </a:pPr>
            <a:r>
              <a:t>🎯 MỤC TIÊU 3: GIẢM TỶ LỆ RỚT CUỘC GỌI (CALL DROP RATE)</a:t>
            </a:r>
          </a:p>
          <a:p>
            <a:pPr>
              <a:spcAft>
                <a:spcPts val="800"/>
              </a:spcAft>
              <a:defRPr sz="1200">
                <a:solidFill>
                  <a:srgbClr val="334155"/>
                </a:solidFill>
              </a:defRPr>
            </a:pPr>
            <a:r>
              <a:t>Tối ưu hóa vùng phủ sóng và tham số chuyển giao (Handover Margin 3dB -&gt; 5dB), kéo giảm tỷ lệ rớt cuộc gọi về dưới mức cam kết chất lượng dịch vụ SLA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100" b="1">
                <a:solidFill>
                  <a:srgbClr val="94A3B8"/>
                </a:solidFill>
              </a:defRPr>
            </a:pPr>
            <a:r>
              <a:t>BÁO CÁO BÀI TẬP LỚN XỬ LÝ DỮ LIỆU LỚN (CTKU122)</a:t>
            </a:r>
          </a:p>
        </p:txBody>
      </p:sp>
      <p:sp>
        <p:nvSpPr>
          <p:cNvPr id="4" name="TextBox 3"/>
          <p:cNvSpPr txBox="1"/>
          <p:nvPr/>
        </p:nvSpPr>
        <p:spPr>
          <a:xfrm>
            <a:off x="731520" y="384048"/>
            <a:ext cx="10515600" cy="548640"/>
          </a:xfrm>
          <a:prstGeom prst="rect">
            <a:avLst/>
          </a:prstGeom>
          <a:noFill/>
        </p:spPr>
        <p:txBody>
          <a:bodyPr wrap="none">
            <a:spAutoFit/>
          </a:bodyPr>
          <a:lstStyle/>
          <a:p>
            <a:pPr>
              <a:defRPr sz="2200" b="1">
                <a:solidFill>
                  <a:srgbClr val="FFFFFF"/>
                </a:solidFill>
              </a:defRPr>
            </a:pPr>
            <a:r>
              <a:t>2. PHÂN TÍCH 5 ĐẶC TRƯNG DỮ LIỆU LỚN (BIG DATA 5V)</a:t>
            </a:r>
          </a:p>
        </p:txBody>
      </p:sp>
      <p:sp>
        <p:nvSpPr>
          <p:cNvPr id="5" name="Rectangle 4"/>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2011680" cy="475488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45920"/>
            <a:ext cx="1828800" cy="4389120"/>
          </a:xfrm>
          <a:prstGeom prst="rect">
            <a:avLst/>
          </a:prstGeom>
          <a:noFill/>
        </p:spPr>
        <p:txBody>
          <a:bodyPr wrap="square">
            <a:spAutoFit/>
          </a:bodyPr>
          <a:lstStyle/>
          <a:p>
            <a:pPr algn="ctr">
              <a:defRPr sz="1400" b="1">
                <a:solidFill>
                  <a:srgbClr val="2563EB"/>
                </a:solidFill>
              </a:defRPr>
            </a:pPr>
            <a:r>
              <a:t>VOLUME (Quy mô)</a:t>
            </a:r>
          </a:p>
          <a:p>
            <a:br/>
            <a:pPr algn="ctr">
              <a:defRPr sz="1200">
                <a:solidFill>
                  <a:srgbClr val="334155"/>
                </a:solidFill>
              </a:defRPr>
            </a:pPr>
            <a:r>
              <a:t>3.5 tỷ sự kiện/ngày</a:t>
            </a:r>
            <a:br/>
            <a:r>
              <a:t>10 - 25 GB log/ngày</a:t>
            </a:r>
            <a:br/>
            <a:r>
              <a:t>Hàng chục Terabyte/năm</a:t>
            </a:r>
            <a:br/>
            <a:r>
              <a:t>Đòi hỏi lưu trữ HDFS phân tán</a:t>
            </a:r>
          </a:p>
        </p:txBody>
      </p:sp>
      <p:sp>
        <p:nvSpPr>
          <p:cNvPr id="8" name="Rounded Rectangle 7"/>
          <p:cNvSpPr/>
          <p:nvPr/>
        </p:nvSpPr>
        <p:spPr>
          <a:xfrm>
            <a:off x="2926080" y="1463040"/>
            <a:ext cx="2011680" cy="475488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1645920"/>
            <a:ext cx="1828800" cy="4389120"/>
          </a:xfrm>
          <a:prstGeom prst="rect">
            <a:avLst/>
          </a:prstGeom>
          <a:noFill/>
        </p:spPr>
        <p:txBody>
          <a:bodyPr wrap="square">
            <a:spAutoFit/>
          </a:bodyPr>
          <a:lstStyle/>
          <a:p>
            <a:pPr algn="ctr">
              <a:defRPr sz="1400" b="1">
                <a:solidFill>
                  <a:srgbClr val="D97706"/>
                </a:solidFill>
              </a:defRPr>
            </a:pPr>
            <a:r>
              <a:t>VELOCITY (Tốc độ)</a:t>
            </a:r>
          </a:p>
          <a:p>
            <a:br/>
            <a:pPr algn="ctr">
              <a:defRPr sz="1200">
                <a:solidFill>
                  <a:srgbClr val="334155"/>
                </a:solidFill>
              </a:defRPr>
            </a:pPr>
            <a:r>
              <a:t>Chu kỳ đo 1s - 5s/lần</a:t>
            </a:r>
            <a:br/>
            <a:r>
              <a:t>500,000 sự kiện/giây cao điểm</a:t>
            </a:r>
            <a:br/>
            <a:r>
              <a:t>Yêu cầu cảnh báo &lt; 1s</a:t>
            </a:r>
            <a:br/>
            <a:r>
              <a:t>Flume &amp; HBase độ trễ thấp</a:t>
            </a:r>
          </a:p>
        </p:txBody>
      </p:sp>
      <p:sp>
        <p:nvSpPr>
          <p:cNvPr id="10" name="Rounded Rectangle 9"/>
          <p:cNvSpPr/>
          <p:nvPr/>
        </p:nvSpPr>
        <p:spPr>
          <a:xfrm>
            <a:off x="5120640" y="1463040"/>
            <a:ext cx="2011680" cy="475488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79" y="1645920"/>
            <a:ext cx="1828800" cy="4389120"/>
          </a:xfrm>
          <a:prstGeom prst="rect">
            <a:avLst/>
          </a:prstGeom>
          <a:noFill/>
        </p:spPr>
        <p:txBody>
          <a:bodyPr wrap="square">
            <a:spAutoFit/>
          </a:bodyPr>
          <a:lstStyle/>
          <a:p>
            <a:pPr algn="ctr">
              <a:defRPr sz="1400" b="1">
                <a:solidFill>
                  <a:srgbClr val="059669"/>
                </a:solidFill>
              </a:defRPr>
            </a:pPr>
            <a:r>
              <a:t>VARIETY (Đa dạng)</a:t>
            </a:r>
          </a:p>
          <a:p>
            <a:br/>
            <a:pPr algn="ctr">
              <a:defRPr sz="1200">
                <a:solidFill>
                  <a:srgbClr val="334155"/>
                </a:solidFill>
              </a:defRPr>
            </a:pPr>
            <a:r>
              <a:t>Có cấu trúc: Danh mục BTS, Cell</a:t>
            </a:r>
            <a:br/>
            <a:r>
              <a:t>Bán cấu trúc: Syslog RFC-5424, XML</a:t>
            </a:r>
            <a:br/>
            <a:r>
              <a:t>Dữ liệu luồng: CDR/xDR, KPI Stream</a:t>
            </a:r>
            <a:br/>
            <a:r>
              <a:t>Pha trộn mạng 3G, 4G, 5G</a:t>
            </a:r>
          </a:p>
        </p:txBody>
      </p:sp>
      <p:sp>
        <p:nvSpPr>
          <p:cNvPr id="12" name="Rounded Rectangle 11"/>
          <p:cNvSpPr/>
          <p:nvPr/>
        </p:nvSpPr>
        <p:spPr>
          <a:xfrm>
            <a:off x="7315199" y="1463040"/>
            <a:ext cx="2011680" cy="4754880"/>
          </a:xfrm>
          <a:prstGeom prst="roundRect">
            <a:avLst/>
          </a:prstGeom>
          <a:solidFill>
            <a:srgbClr val="FEF2F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645920"/>
            <a:ext cx="1828800" cy="4389120"/>
          </a:xfrm>
          <a:prstGeom prst="rect">
            <a:avLst/>
          </a:prstGeom>
          <a:noFill/>
        </p:spPr>
        <p:txBody>
          <a:bodyPr wrap="square">
            <a:spAutoFit/>
          </a:bodyPr>
          <a:lstStyle/>
          <a:p>
            <a:pPr algn="ctr">
              <a:defRPr sz="1400" b="1">
                <a:solidFill>
                  <a:srgbClr val="DC2626"/>
                </a:solidFill>
              </a:defRPr>
            </a:pPr>
            <a:r>
              <a:t>VERACITY (Độ tin cậy)</a:t>
            </a:r>
          </a:p>
          <a:p>
            <a:br/>
            <a:pPr algn="ctr">
              <a:defRPr sz="1200">
                <a:solidFill>
                  <a:srgbClr val="334155"/>
                </a:solidFill>
              </a:defRPr>
            </a:pPr>
            <a:r>
              <a:t>Nhiễu vô tuyến, thời tiết mưa bão</a:t>
            </a:r>
            <a:br/>
            <a:r>
              <a:t>Lệch đồng hồ NTP gây trễ âm</a:t>
            </a:r>
            <a:br/>
            <a:r>
              <a:t>Tràn bộ đếm gây thông lượng âm</a:t>
            </a:r>
            <a:br/>
            <a:r>
              <a:t>Cần lọc sạch và xác thực kỹ</a:t>
            </a:r>
          </a:p>
        </p:txBody>
      </p:sp>
      <p:sp>
        <p:nvSpPr>
          <p:cNvPr id="14" name="Rounded Rectangle 13"/>
          <p:cNvSpPr/>
          <p:nvPr/>
        </p:nvSpPr>
        <p:spPr>
          <a:xfrm>
            <a:off x="9509760" y="1463040"/>
            <a:ext cx="2011680" cy="4754880"/>
          </a:xfrm>
          <a:prstGeom prst="roundRect">
            <a:avLst/>
          </a:prstGeom>
          <a:solidFill>
            <a:srgbClr val="F5F3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0" y="1645920"/>
            <a:ext cx="1828800" cy="4389120"/>
          </a:xfrm>
          <a:prstGeom prst="rect">
            <a:avLst/>
          </a:prstGeom>
          <a:noFill/>
        </p:spPr>
        <p:txBody>
          <a:bodyPr wrap="square">
            <a:spAutoFit/>
          </a:bodyPr>
          <a:lstStyle/>
          <a:p>
            <a:pPr algn="ctr">
              <a:defRPr sz="1400" b="1">
                <a:solidFill>
                  <a:srgbClr val="7C3AED"/>
                </a:solidFill>
              </a:defRPr>
            </a:pPr>
            <a:r>
              <a:t>VALUE (Giá trị)</a:t>
            </a:r>
          </a:p>
          <a:p>
            <a:br/>
            <a:pPr algn="ctr">
              <a:defRPr sz="1200">
                <a:solidFill>
                  <a:srgbClr val="334155"/>
                </a:solidFill>
              </a:defRPr>
            </a:pPr>
            <a:r>
              <a:t>Giảm rớt cuộc gọi &amp; giảm độ trễ</a:t>
            </a:r>
            <a:br/>
            <a:r>
              <a:t>Kéo giảm tỷ lệ rời mạng Churn</a:t>
            </a:r>
            <a:br/>
            <a:r>
              <a:t>Chăm sóc khách hàng chủ động</a:t>
            </a:r>
            <a:br/>
            <a:r>
              <a:t>Tối ưu hóa chi phí đầu tư CAPEX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100" b="1">
                <a:solidFill>
                  <a:srgbClr val="94A3B8"/>
                </a:solidFill>
              </a:defRPr>
            </a:pPr>
            <a:r>
              <a:t>BÁO CÁO BÀI TẬP LỚN XỬ LÝ DỮ LIỆU LỚN (CTKU122)</a:t>
            </a:r>
          </a:p>
        </p:txBody>
      </p:sp>
      <p:sp>
        <p:nvSpPr>
          <p:cNvPr id="4" name="TextBox 3"/>
          <p:cNvSpPr txBox="1"/>
          <p:nvPr/>
        </p:nvSpPr>
        <p:spPr>
          <a:xfrm>
            <a:off x="731520" y="384048"/>
            <a:ext cx="10515600" cy="548640"/>
          </a:xfrm>
          <a:prstGeom prst="rect">
            <a:avLst/>
          </a:prstGeom>
          <a:noFill/>
        </p:spPr>
        <p:txBody>
          <a:bodyPr wrap="none">
            <a:spAutoFit/>
          </a:bodyPr>
          <a:lstStyle/>
          <a:p>
            <a:pPr>
              <a:defRPr sz="2200" b="1">
                <a:solidFill>
                  <a:srgbClr val="FFFFFF"/>
                </a:solidFill>
              </a:defRPr>
            </a:pPr>
            <a:r>
              <a:t>3. KIẾN TRÚC TỔNG THỂ HỆ THỐNG (LAMBDA ARCHITECTURE)</a:t>
            </a:r>
          </a:p>
        </p:txBody>
      </p:sp>
      <p:sp>
        <p:nvSpPr>
          <p:cNvPr id="5" name="Rectangle 4"/>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inh_1_1_kien_truc_tong_the.png"/>
          <p:cNvPicPr>
            <a:picLocks noChangeAspect="1"/>
          </p:cNvPicPr>
          <p:nvPr/>
        </p:nvPicPr>
        <p:blipFill>
          <a:blip r:embed="rId2"/>
          <a:stretch>
            <a:fillRect/>
          </a:stretch>
        </p:blipFill>
        <p:spPr>
          <a:xfrm>
            <a:off x="731520" y="1280160"/>
            <a:ext cx="10728655" cy="607957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100" b="1">
                <a:solidFill>
                  <a:srgbClr val="94A3B8"/>
                </a:solidFill>
              </a:defRPr>
            </a:pPr>
            <a:r>
              <a:t>BÁO CÁO BÀI TẬP LỚN XỬ LÝ DỮ LIỆU LỚN (CTKU122)</a:t>
            </a:r>
          </a:p>
        </p:txBody>
      </p:sp>
      <p:sp>
        <p:nvSpPr>
          <p:cNvPr id="4" name="TextBox 3"/>
          <p:cNvSpPr txBox="1"/>
          <p:nvPr/>
        </p:nvSpPr>
        <p:spPr>
          <a:xfrm>
            <a:off x="731520" y="384048"/>
            <a:ext cx="10515600" cy="548640"/>
          </a:xfrm>
          <a:prstGeom prst="rect">
            <a:avLst/>
          </a:prstGeom>
          <a:noFill/>
        </p:spPr>
        <p:txBody>
          <a:bodyPr wrap="none">
            <a:spAutoFit/>
          </a:bodyPr>
          <a:lstStyle/>
          <a:p>
            <a:pPr>
              <a:defRPr sz="2200" b="1">
                <a:solidFill>
                  <a:srgbClr val="FFFFFF"/>
                </a:solidFill>
              </a:defRPr>
            </a:pPr>
            <a:r>
              <a:t>4. MÔ HÌNH DỮ LIỆU &amp; QUAN HỆ CÁC THỰC THỂ (ERD SCHEMA)</a:t>
            </a:r>
          </a:p>
        </p:txBody>
      </p:sp>
      <p:sp>
        <p:nvSpPr>
          <p:cNvPr id="5" name="Rectangle 4"/>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inh_2_1_mo_hinh_du_lieu.png"/>
          <p:cNvPicPr>
            <a:picLocks noChangeAspect="1"/>
          </p:cNvPicPr>
          <p:nvPr/>
        </p:nvPicPr>
        <p:blipFill>
          <a:blip r:embed="rId2"/>
          <a:stretch>
            <a:fillRect/>
          </a:stretch>
        </p:blipFill>
        <p:spPr>
          <a:xfrm>
            <a:off x="731520" y="1280160"/>
            <a:ext cx="10728655" cy="681414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100" b="1">
                <a:solidFill>
                  <a:srgbClr val="94A3B8"/>
                </a:solidFill>
              </a:defRPr>
            </a:pPr>
            <a:r>
              <a:t>BÁO CÁO BÀI TẬP LỚN XỬ LÝ DỮ LIỆU LỚN (CTKU122)</a:t>
            </a:r>
          </a:p>
        </p:txBody>
      </p:sp>
      <p:sp>
        <p:nvSpPr>
          <p:cNvPr id="4" name="TextBox 3"/>
          <p:cNvSpPr txBox="1"/>
          <p:nvPr/>
        </p:nvSpPr>
        <p:spPr>
          <a:xfrm>
            <a:off x="731520" y="384048"/>
            <a:ext cx="10515600" cy="548640"/>
          </a:xfrm>
          <a:prstGeom prst="rect">
            <a:avLst/>
          </a:prstGeom>
          <a:noFill/>
        </p:spPr>
        <p:txBody>
          <a:bodyPr wrap="none">
            <a:spAutoFit/>
          </a:bodyPr>
          <a:lstStyle/>
          <a:p>
            <a:pPr>
              <a:defRPr sz="2200" b="1">
                <a:solidFill>
                  <a:srgbClr val="FFFFFF"/>
                </a:solidFill>
              </a:defRPr>
            </a:pPr>
            <a:r>
              <a:t>5. KHẢO SÁT DỮ LIỆU, MA TRẬN RỦI RO &amp; LÀM SẠCH</a:t>
            </a:r>
          </a:p>
        </p:txBody>
      </p:sp>
      <p:sp>
        <p:nvSpPr>
          <p:cNvPr id="5" name="Rectangle 4"/>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754880" cy="4572000"/>
          </a:xfrm>
          <a:prstGeom prst="rect">
            <a:avLst/>
          </a:prstGeom>
          <a:noFill/>
        </p:spPr>
        <p:txBody>
          <a:bodyPr wrap="square">
            <a:spAutoFit/>
          </a:bodyPr>
          <a:lstStyle/>
          <a:p>
            <a:pPr>
              <a:defRPr sz="1500" b="1">
                <a:solidFill>
                  <a:srgbClr val="2563EB"/>
                </a:solidFill>
              </a:defRPr>
            </a:pPr>
            <a:r>
              <a:t>KHẢO SÁT 4 TẬP DỮ LIỆU THỰC NGHIỆM</a:t>
            </a:r>
          </a:p>
          <a:p>
            <a:pPr>
              <a:spcBef>
                <a:spcPts val="400"/>
              </a:spcBef>
              <a:defRPr sz="1200" b="1">
                <a:solidFill>
                  <a:srgbClr val="0F172A"/>
                </a:solidFill>
              </a:defRPr>
            </a:pPr>
            <a:r>
              <a:t>📁 network_kpi_events.csv: </a:t>
            </a:r>
          </a:p>
          <a:p>
            <a:pPr>
              <a:spcAft>
                <a:spcPts val="400"/>
              </a:spcAft>
              <a:defRPr sz="1100">
                <a:solidFill>
                  <a:srgbClr val="334155"/>
                </a:solidFill>
              </a:defRPr>
            </a:pPr>
            <a:r>
              <a:t>12,000 bản ghi đo kiểm phiên; lưu thông lượng, độ trễ, mất gói, cờ rớt cuộc gọi, active users.</a:t>
            </a:r>
          </a:p>
          <a:p>
            <a:pPr>
              <a:spcBef>
                <a:spcPts val="400"/>
              </a:spcBef>
              <a:defRPr sz="1200" b="1">
                <a:solidFill>
                  <a:srgbClr val="0F172A"/>
                </a:solidFill>
              </a:defRPr>
            </a:pPr>
            <a:r>
              <a:t>📁 bts_towers.csv: </a:t>
            </a:r>
          </a:p>
          <a:p>
            <a:pPr>
              <a:spcAft>
                <a:spcPts val="400"/>
              </a:spcAft>
              <a:defRPr sz="1100">
                <a:solidFill>
                  <a:srgbClr val="334155"/>
                </a:solidFill>
              </a:defRPr>
            </a:pPr>
            <a:r>
              <a:t>Danh mục 500 trạm BTS; mã trạm, tên trạm, tỉnh thành, quận huyện, kinh độ, vĩ độ, ngày lắp đặt.</a:t>
            </a:r>
          </a:p>
          <a:p>
            <a:pPr>
              <a:spcBef>
                <a:spcPts val="400"/>
              </a:spcBef>
              <a:defRPr sz="1200" b="1">
                <a:solidFill>
                  <a:srgbClr val="0F172A"/>
                </a:solidFill>
              </a:defRPr>
            </a:pPr>
            <a:r>
              <a:t>📁 cells_catalog.csv: </a:t>
            </a:r>
          </a:p>
          <a:p>
            <a:pPr>
              <a:spcAft>
                <a:spcPts val="400"/>
              </a:spcAft>
              <a:defRPr sz="1100">
                <a:solidFill>
                  <a:srgbClr val="334155"/>
                </a:solidFill>
              </a:defRPr>
            </a:pPr>
            <a:r>
              <a:t>Danh mục sector cell vô tuyến; công nghệ 3G/4G/5G, dải tần MHz, băng thông tối đa, góc ngửa azimuth.</a:t>
            </a:r>
          </a:p>
          <a:p>
            <a:pPr>
              <a:spcBef>
                <a:spcPts val="400"/>
              </a:spcBef>
              <a:defRPr sz="1200" b="1">
                <a:solidFill>
                  <a:srgbClr val="0F172A"/>
                </a:solidFill>
              </a:defRPr>
            </a:pPr>
            <a:r>
              <a:t>📁 customer_complaints.csv: </a:t>
            </a:r>
          </a:p>
          <a:p>
            <a:pPr>
              <a:spcAft>
                <a:spcPts val="400"/>
              </a:spcAft>
              <a:defRPr sz="1100">
                <a:solidFill>
                  <a:srgbClr val="334155"/>
                </a:solidFill>
              </a:defRPr>
            </a:pPr>
            <a:r>
              <a:t>Bản ghi khiếu nại khách hàng; số thuê bao msisdn, loại sự cố rớt mạng, trạng thái xử lý.</a:t>
            </a:r>
          </a:p>
        </p:txBody>
      </p:sp>
      <p:sp>
        <p:nvSpPr>
          <p:cNvPr id="8" name="Rounded Rectangle 7"/>
          <p:cNvSpPr/>
          <p:nvPr/>
        </p:nvSpPr>
        <p:spPr>
          <a:xfrm>
            <a:off x="6217920" y="1371600"/>
            <a:ext cx="5212080" cy="4937760"/>
          </a:xfrm>
          <a:prstGeom prst="roundRect">
            <a:avLst/>
          </a:prstGeom>
          <a:solidFill>
            <a:srgbClr val="FEF2F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572000"/>
          </a:xfrm>
          <a:prstGeom prst="rect">
            <a:avLst/>
          </a:prstGeom>
          <a:noFill/>
        </p:spPr>
        <p:txBody>
          <a:bodyPr wrap="square">
            <a:spAutoFit/>
          </a:bodyPr>
          <a:lstStyle/>
          <a:p>
            <a:pPr>
              <a:defRPr sz="1500" b="1">
                <a:solidFill>
                  <a:srgbClr val="DC2626"/>
                </a:solidFill>
              </a:defRPr>
            </a:pPr>
            <a:r>
              <a:t>MA TRẬN LỖI DỊ THƯỜNG &amp; LÀM SẠCH</a:t>
            </a:r>
          </a:p>
          <a:p>
            <a:pPr>
              <a:spcBef>
                <a:spcPts val="400"/>
              </a:spcBef>
              <a:defRPr sz="1200" b="1">
                <a:solidFill>
                  <a:srgbClr val="0F172A"/>
                </a:solidFill>
              </a:defRPr>
            </a:pPr>
            <a:r>
              <a:t>⚠️ Độ trễ âm (latency &lt; 0 ms)</a:t>
            </a:r>
          </a:p>
          <a:p>
            <a:pPr>
              <a:spcAft>
                <a:spcPts val="400"/>
              </a:spcAft>
              <a:defRPr sz="1100">
                <a:solidFill>
                  <a:srgbClr val="334155"/>
                </a:solidFill>
              </a:defRPr>
            </a:pPr>
            <a:r>
              <a:t>Do lệch xung đồng hồ NTP giữa BTS và server -&gt; Lọc bỏ hoàn toàn bằng filter.</a:t>
            </a:r>
          </a:p>
          <a:p>
            <a:pPr>
              <a:spcBef>
                <a:spcPts val="400"/>
              </a:spcBef>
              <a:defRPr sz="1200" b="1">
                <a:solidFill>
                  <a:srgbClr val="0F172A"/>
                </a:solidFill>
              </a:defRPr>
            </a:pPr>
            <a:r>
              <a:t>⚠️ Thông lượng âm (throughput &lt; 0)</a:t>
            </a:r>
          </a:p>
          <a:p>
            <a:pPr>
              <a:spcAft>
                <a:spcPts val="400"/>
              </a:spcAft>
              <a:defRPr sz="1100">
                <a:solidFill>
                  <a:srgbClr val="334155"/>
                </a:solidFill>
              </a:defRPr>
            </a:pPr>
            <a:r>
              <a:t>Do tràn bộ đếm byte phần mềm nhúng cũ -&gt; Loại bỏ trong bước làm sạch.</a:t>
            </a:r>
          </a:p>
          <a:p>
            <a:pPr>
              <a:spcBef>
                <a:spcPts val="400"/>
              </a:spcBef>
              <a:defRPr sz="1200" b="1">
                <a:solidFill>
                  <a:srgbClr val="0F172A"/>
                </a:solidFill>
              </a:defRPr>
            </a:pPr>
            <a:r>
              <a:t>⚠️ Mất gói vô lý (packet_loss &gt; 100%)</a:t>
            </a:r>
          </a:p>
          <a:p>
            <a:pPr>
              <a:spcAft>
                <a:spcPts val="400"/>
              </a:spcAft>
              <a:defRPr sz="1100">
                <a:solidFill>
                  <a:srgbClr val="334155"/>
                </a:solidFill>
              </a:defRPr>
            </a:pPr>
            <a:r>
              <a:t>Do suy hao đa đường phân kỳ -&gt; Ràng buộc miền giá trị [0, 100%].</a:t>
            </a:r>
          </a:p>
          <a:p>
            <a:pPr>
              <a:spcBef>
                <a:spcPts val="400"/>
              </a:spcBef>
              <a:defRPr sz="1200" b="1">
                <a:solidFill>
                  <a:srgbClr val="0F172A"/>
                </a:solidFill>
              </a:defRPr>
            </a:pPr>
            <a:r>
              <a:t>⚠️ Bản ghi mồ côi (tower_id NULL)</a:t>
            </a:r>
          </a:p>
          <a:p>
            <a:pPr>
              <a:spcAft>
                <a:spcPts val="400"/>
              </a:spcAft>
              <a:defRPr sz="1100">
                <a:solidFill>
                  <a:srgbClr val="334155"/>
                </a:solidFill>
              </a:defRPr>
            </a:pPr>
            <a:r>
              <a:t>Do lỗi đóng gói telemetry trên Backhaul -&gt; Lọc bỏ trước khi Join.</a:t>
            </a:r>
          </a:p>
          <a:p>
            <a:pPr>
              <a:spcBef>
                <a:spcPts val="400"/>
              </a:spcBef>
              <a:defRPr sz="1200" b="1">
                <a:solidFill>
                  <a:srgbClr val="0F172A"/>
                </a:solidFill>
              </a:defRPr>
            </a:pPr>
            <a:r>
              <a:t>⚠️ Hiệu quả làm sạch</a:t>
            </a:r>
          </a:p>
          <a:p>
            <a:pPr>
              <a:spcAft>
                <a:spcPts val="400"/>
              </a:spcAft>
              <a:defRPr sz="1100">
                <a:solidFill>
                  <a:srgbClr val="334155"/>
                </a:solidFill>
              </a:defRPr>
            </a:pPr>
            <a:r>
              <a:t>12,000 bản ghi thô -&gt; Loại bỏ 48 bản ghi rác (0.40%) -&gt; Giữ lại 11,952 bản ghi sạch 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100" b="1">
                <a:solidFill>
                  <a:srgbClr val="94A3B8"/>
                </a:solidFill>
              </a:defRPr>
            </a:pPr>
            <a:r>
              <a:t>BÁO CÁO BÀI TẬP LỚN XỬ LÝ DỮ LIỆU LỚN (CTKU122)</a:t>
            </a:r>
          </a:p>
        </p:txBody>
      </p:sp>
      <p:sp>
        <p:nvSpPr>
          <p:cNvPr id="4" name="TextBox 3"/>
          <p:cNvSpPr txBox="1"/>
          <p:nvPr/>
        </p:nvSpPr>
        <p:spPr>
          <a:xfrm>
            <a:off x="731520" y="384048"/>
            <a:ext cx="10515600" cy="548640"/>
          </a:xfrm>
          <a:prstGeom prst="rect">
            <a:avLst/>
          </a:prstGeom>
          <a:noFill/>
        </p:spPr>
        <p:txBody>
          <a:bodyPr wrap="none">
            <a:spAutoFit/>
          </a:bodyPr>
          <a:lstStyle/>
          <a:p>
            <a:pPr>
              <a:defRPr sz="2200" b="1">
                <a:solidFill>
                  <a:srgbClr val="FFFFFF"/>
                </a:solidFill>
              </a:defRPr>
            </a:pPr>
            <a:r>
              <a:t>6. TỔ CHỨC LƯU TRỮ PHÂN TÁN HDFS &amp; CƠ CHẾ DUNG LỖI</a:t>
            </a:r>
          </a:p>
        </p:txBody>
      </p:sp>
      <p:sp>
        <p:nvSpPr>
          <p:cNvPr id="5" name="Rectangle 4"/>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2560320" cy="237744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63040"/>
            <a:ext cx="2377440" cy="2194560"/>
          </a:xfrm>
          <a:prstGeom prst="rect">
            <a:avLst/>
          </a:prstGeom>
          <a:noFill/>
        </p:spPr>
        <p:txBody>
          <a:bodyPr wrap="square">
            <a:spAutoFit/>
          </a:bodyPr>
          <a:lstStyle/>
          <a:p>
            <a:pPr>
              <a:defRPr sz="1300" b="1">
                <a:solidFill>
                  <a:srgbClr val="2563EB"/>
                </a:solidFill>
              </a:defRPr>
            </a:pPr>
            <a:r>
              <a:t>1. RAW ZONE (/telecom/raw/)</a:t>
            </a:r>
          </a:p>
          <a:p>
            <a:br/>
            <a:pPr>
              <a:defRPr sz="1100">
                <a:solidFill>
                  <a:srgbClr val="334155"/>
                </a:solidFill>
              </a:defRPr>
            </a:pPr>
            <a:r>
              <a:t>Chứa 100% log thô bất biến (Immutable)</a:t>
            </a:r>
            <a:br/>
            <a:r>
              <a:t>Chỉ cấp quyền ghi cho tiến trình Flume</a:t>
            </a:r>
            <a:br/>
            <a:r>
              <a:t>Lưu trữ lâu dài phục vụ kiểm toán dữ liệu</a:t>
            </a:r>
          </a:p>
        </p:txBody>
      </p:sp>
      <p:sp>
        <p:nvSpPr>
          <p:cNvPr id="8" name="Rounded Rectangle 7"/>
          <p:cNvSpPr/>
          <p:nvPr/>
        </p:nvSpPr>
        <p:spPr>
          <a:xfrm>
            <a:off x="3429000" y="1371600"/>
            <a:ext cx="2560320" cy="237744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0440" y="1463040"/>
            <a:ext cx="2377440" cy="2194560"/>
          </a:xfrm>
          <a:prstGeom prst="rect">
            <a:avLst/>
          </a:prstGeom>
          <a:noFill/>
        </p:spPr>
        <p:txBody>
          <a:bodyPr wrap="square">
            <a:spAutoFit/>
          </a:bodyPr>
          <a:lstStyle/>
          <a:p>
            <a:pPr>
              <a:defRPr sz="1300" b="1">
                <a:solidFill>
                  <a:srgbClr val="D97706"/>
                </a:solidFill>
              </a:defRPr>
            </a:pPr>
            <a:r>
              <a:t>2. STAGING ZONE (/telecom/staging/)</a:t>
            </a:r>
          </a:p>
          <a:p>
            <a:br/>
            <a:pPr>
              <a:defRPr sz="1100">
                <a:solidFill>
                  <a:srgbClr val="334155"/>
                </a:solidFill>
              </a:defRPr>
            </a:pPr>
            <a:r>
              <a:t>Vùng đệm trung chuyển tạm thời cho ETL</a:t>
            </a:r>
            <a:br/>
            <a:r>
              <a:t>Giải nén, kiểm tra hợp lệ, khử trùng lặp</a:t>
            </a:r>
            <a:br/>
            <a:r>
              <a:t>Dữ liệu có vòng đời ngắn tự xóa sau 7 ngày</a:t>
            </a:r>
          </a:p>
        </p:txBody>
      </p:sp>
      <p:sp>
        <p:nvSpPr>
          <p:cNvPr id="10" name="Rounded Rectangle 9"/>
          <p:cNvSpPr/>
          <p:nvPr/>
        </p:nvSpPr>
        <p:spPr>
          <a:xfrm>
            <a:off x="6126480" y="1371600"/>
            <a:ext cx="2560320" cy="237744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463040"/>
            <a:ext cx="2377440" cy="2194560"/>
          </a:xfrm>
          <a:prstGeom prst="rect">
            <a:avLst/>
          </a:prstGeom>
          <a:noFill/>
        </p:spPr>
        <p:txBody>
          <a:bodyPr wrap="square">
            <a:spAutoFit/>
          </a:bodyPr>
          <a:lstStyle/>
          <a:p>
            <a:pPr>
              <a:defRPr sz="1300" b="1">
                <a:solidFill>
                  <a:srgbClr val="059669"/>
                </a:solidFill>
              </a:defRPr>
            </a:pPr>
            <a:r>
              <a:t>3. CURATED ZONE (/telecom/curated/)</a:t>
            </a:r>
          </a:p>
          <a:p>
            <a:br/>
            <a:pPr>
              <a:defRPr sz="1100">
                <a:solidFill>
                  <a:srgbClr val="334155"/>
                </a:solidFill>
              </a:defRPr>
            </a:pPr>
            <a:r>
              <a:t>Dữ liệu sạch chuẩn hóa Snappy Parquet</a:t>
            </a:r>
            <a:br/>
            <a:r>
              <a:t>Phân vùng theo ngày và mã trạm BTS</a:t>
            </a:r>
            <a:br/>
            <a:r>
              <a:t>Nguồn dữ liệu Single Source of Truth</a:t>
            </a:r>
          </a:p>
        </p:txBody>
      </p:sp>
      <p:sp>
        <p:nvSpPr>
          <p:cNvPr id="12" name="Rounded Rectangle 11"/>
          <p:cNvSpPr/>
          <p:nvPr/>
        </p:nvSpPr>
        <p:spPr>
          <a:xfrm>
            <a:off x="8823960" y="1371600"/>
            <a:ext cx="2560320" cy="2377440"/>
          </a:xfrm>
          <a:prstGeom prst="roundRect">
            <a:avLst/>
          </a:prstGeom>
          <a:solidFill>
            <a:srgbClr val="F8FAFC"/>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15400" y="1463040"/>
            <a:ext cx="2377440" cy="2194560"/>
          </a:xfrm>
          <a:prstGeom prst="rect">
            <a:avLst/>
          </a:prstGeom>
          <a:noFill/>
        </p:spPr>
        <p:txBody>
          <a:bodyPr wrap="square">
            <a:spAutoFit/>
          </a:bodyPr>
          <a:lstStyle/>
          <a:p>
            <a:pPr>
              <a:defRPr sz="1300" b="1">
                <a:solidFill>
                  <a:srgbClr val="7C3AED"/>
                </a:solidFill>
              </a:defRPr>
            </a:pPr>
            <a:r>
              <a:t>4. OUTPUT ZONE (/telecom/output/)</a:t>
            </a:r>
          </a:p>
          <a:p>
            <a:br/>
            <a:pPr>
              <a:defRPr sz="1100">
                <a:solidFill>
                  <a:srgbClr val="334155"/>
                </a:solidFill>
              </a:defRPr>
            </a:pPr>
            <a:r>
              <a:t>Chứa bảng chỉ số KPI tổng hợp cấp cao</a:t>
            </a:r>
            <a:br/>
            <a:r>
              <a:t>Danh sách cảnh báo trạm suy thoái nghiêm trọng</a:t>
            </a:r>
            <a:br/>
            <a:r>
              <a:t>Phục vụ trực tiếp BI, BigSheets và R Studio</a:t>
            </a:r>
          </a:p>
        </p:txBody>
      </p:sp>
      <p:sp>
        <p:nvSpPr>
          <p:cNvPr id="14" name="Rounded Rectangle 13"/>
          <p:cNvSpPr/>
          <p:nvPr/>
        </p:nvSpPr>
        <p:spPr>
          <a:xfrm>
            <a:off x="731520" y="4023360"/>
            <a:ext cx="10728655" cy="228600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114800"/>
            <a:ext cx="10362895" cy="2103120"/>
          </a:xfrm>
          <a:prstGeom prst="rect">
            <a:avLst/>
          </a:prstGeom>
          <a:noFill/>
        </p:spPr>
        <p:txBody>
          <a:bodyPr wrap="square">
            <a:spAutoFit/>
          </a:bodyPr>
          <a:lstStyle/>
          <a:p>
            <a:pPr>
              <a:defRPr sz="1500" b="1">
                <a:solidFill>
                  <a:srgbClr val="0F172A"/>
                </a:solidFill>
              </a:defRPr>
            </a:pPr>
            <a:r>
              <a:t>CƠ CHẾ DUNG LỖI &amp; TÍNH TOÁN DUNG LƯỢNG HDFS (REPLICATION FACTOR = 3)</a:t>
            </a:r>
          </a:p>
          <a:p>
            <a:pPr>
              <a:spcAft>
                <a:spcPts val="300"/>
              </a:spcAft>
              <a:defRPr sz="1150">
                <a:solidFill>
                  <a:srgbClr val="0F172A"/>
                </a:solidFill>
              </a:defRPr>
            </a:pPr>
            <a:r>
              <a:t>• Cơ chế tự phục hồi (Auto Self-Healing): Heartbeat 3s giữa NameNode và DataNode. Nếu sau 10.5 phút mất tín hiệu, NameNode tuyên bố DataNode chết và tự động nhân bản các Under-replicated blocks sang DataNode khác để duy trì đúng RF = 3.</a:t>
            </a:r>
          </a:p>
          <a:p>
            <a:pPr>
              <a:spcAft>
                <a:spcPts val="300"/>
              </a:spcAft>
              <a:defRPr sz="1150">
                <a:solidFill>
                  <a:srgbClr val="0F172A"/>
                </a:solidFill>
              </a:defRPr>
            </a:pPr>
            <a:r>
              <a:t>• Kích thước khối 128 MB: Giảm thiểu số lượng block và tải quản lý metadata trên bộ nhớ RAM của NameNode.</a:t>
            </a:r>
          </a:p>
          <a:p>
            <a:pPr>
              <a:spcAft>
                <a:spcPts val="300"/>
              </a:spcAft>
              <a:defRPr sz="1150">
                <a:solidFill>
                  <a:srgbClr val="0F172A"/>
                </a:solidFill>
              </a:defRPr>
            </a:pPr>
            <a:r>
              <a:t>• Tính toán dung lượng cho 500 trạm BTS (2,000 cell): 34.56 triệu sự kiện/ngày = 8.85 GB thô/ngày. Nén Parquet Snappy (giảm 65%) + 10% metadata + RF=3 = 10.22 GB HDFS/ngày -&gt; 3.73 Terabyte HDFS/năm (13.58 TB cho 3 năm).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100" b="1">
                <a:solidFill>
                  <a:srgbClr val="94A3B8"/>
                </a:solidFill>
              </a:defRPr>
            </a:pPr>
            <a:r>
              <a:t>BÁO CÁO BÀI TẬP LỚN XỬ LÝ DỮ LIỆU LỚN (CTKU122)</a:t>
            </a:r>
          </a:p>
        </p:txBody>
      </p:sp>
      <p:sp>
        <p:nvSpPr>
          <p:cNvPr id="4" name="TextBox 3"/>
          <p:cNvSpPr txBox="1"/>
          <p:nvPr/>
        </p:nvSpPr>
        <p:spPr>
          <a:xfrm>
            <a:off x="731520" y="384048"/>
            <a:ext cx="10515600" cy="548640"/>
          </a:xfrm>
          <a:prstGeom prst="rect">
            <a:avLst/>
          </a:prstGeom>
          <a:noFill/>
        </p:spPr>
        <p:txBody>
          <a:bodyPr wrap="none">
            <a:spAutoFit/>
          </a:bodyPr>
          <a:lstStyle/>
          <a:p>
            <a:pPr>
              <a:defRPr sz="2200" b="1">
                <a:solidFill>
                  <a:srgbClr val="FFFFFF"/>
                </a:solidFill>
              </a:defRPr>
            </a:pPr>
            <a:r>
              <a:t>7. KIẾN TRÚC THU THẬP ĐẦU-CUỐI VỚI APACHE FLUME</a:t>
            </a:r>
          </a:p>
        </p:txBody>
      </p:sp>
      <p:sp>
        <p:nvSpPr>
          <p:cNvPr id="5" name="Rectangle 4"/>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inh_3_1_pipeline_xu_ly.png"/>
          <p:cNvPicPr>
            <a:picLocks noChangeAspect="1"/>
          </p:cNvPicPr>
          <p:nvPr/>
        </p:nvPicPr>
        <p:blipFill>
          <a:blip r:embed="rId2"/>
          <a:stretch>
            <a:fillRect/>
          </a:stretch>
        </p:blipFill>
        <p:spPr>
          <a:xfrm>
            <a:off x="731520" y="1280160"/>
            <a:ext cx="10728655" cy="421199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100" b="1">
                <a:solidFill>
                  <a:srgbClr val="94A3B8"/>
                </a:solidFill>
              </a:defRPr>
            </a:pPr>
            <a:r>
              <a:t>BÁO CÁO BÀI TẬP LỚN XỬ LÝ DỮ LIỆU LỚN (CTKU122)</a:t>
            </a:r>
          </a:p>
        </p:txBody>
      </p:sp>
      <p:sp>
        <p:nvSpPr>
          <p:cNvPr id="4" name="TextBox 3"/>
          <p:cNvSpPr txBox="1"/>
          <p:nvPr/>
        </p:nvSpPr>
        <p:spPr>
          <a:xfrm>
            <a:off x="731520" y="384048"/>
            <a:ext cx="10515600" cy="548640"/>
          </a:xfrm>
          <a:prstGeom prst="rect">
            <a:avLst/>
          </a:prstGeom>
          <a:noFill/>
        </p:spPr>
        <p:txBody>
          <a:bodyPr wrap="none">
            <a:spAutoFit/>
          </a:bodyPr>
          <a:lstStyle/>
          <a:p>
            <a:pPr>
              <a:defRPr sz="2200" b="1">
                <a:solidFill>
                  <a:srgbClr val="FFFFFF"/>
                </a:solidFill>
              </a:defRPr>
            </a:pPr>
            <a:r>
              <a:t>8. PIPELINE XỬ LÝ IN-MEMORY VỚI APACHE SPARK &amp; SPARK SQL</a:t>
            </a:r>
          </a:p>
        </p:txBody>
      </p:sp>
      <p:sp>
        <p:nvSpPr>
          <p:cNvPr id="5" name="Rectangle 4"/>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754880" cy="4572000"/>
          </a:xfrm>
          <a:prstGeom prst="rect">
            <a:avLst/>
          </a:prstGeom>
          <a:noFill/>
        </p:spPr>
        <p:txBody>
          <a:bodyPr wrap="square">
            <a:spAutoFit/>
          </a:bodyPr>
          <a:lstStyle/>
          <a:p>
            <a:pPr>
              <a:defRPr sz="1500" b="1">
                <a:solidFill>
                  <a:srgbClr val="2563EB"/>
                </a:solidFill>
              </a:defRPr>
            </a:pPr>
            <a:r>
              <a:t>TỐI ƯU HÓA ĐỘNG CƠ SPARK</a:t>
            </a:r>
          </a:p>
          <a:p>
            <a:pPr>
              <a:spcBef>
                <a:spcPts val="400"/>
              </a:spcBef>
              <a:defRPr sz="1200" b="1">
                <a:solidFill>
                  <a:srgbClr val="0F172A"/>
                </a:solidFill>
              </a:defRPr>
            </a:pPr>
            <a:r>
              <a:t>⚡ Catalyst Optimizer: </a:t>
            </a:r>
          </a:p>
          <a:p>
            <a:pPr>
              <a:spcAft>
                <a:spcPts val="400"/>
              </a:spcAft>
              <a:defRPr sz="1100">
                <a:solidFill>
                  <a:srgbClr val="334155"/>
                </a:solidFill>
              </a:defRPr>
            </a:pPr>
            <a:r>
              <a:t>Tự động tối ưu hóa cây kế hoạch truy vấn logic và vật lý, tự động đẩy các điều kiện lọc (Predicate Pushdown) xuống tận tầng lưu trữ tệp.</a:t>
            </a:r>
          </a:p>
          <a:p>
            <a:pPr>
              <a:spcBef>
                <a:spcPts val="400"/>
              </a:spcBef>
              <a:defRPr sz="1200" b="1">
                <a:solidFill>
                  <a:srgbClr val="0F172A"/>
                </a:solidFill>
              </a:defRPr>
            </a:pPr>
            <a:r>
              <a:t>⚡ Tungsten Engine: </a:t>
            </a:r>
          </a:p>
          <a:p>
            <a:pPr>
              <a:spcAft>
                <a:spcPts val="400"/>
              </a:spcAft>
              <a:defRPr sz="1100">
                <a:solidFill>
                  <a:srgbClr val="334155"/>
                </a:solidFill>
              </a:defRPr>
            </a:pPr>
            <a:r>
              <a:t>Quản lý bộ nhớ off-heap trực tiếp, giải phóng áp lực rác Java GC, biên dịch mã bytecode tức thời (Whole-stage Code Generation).</a:t>
            </a:r>
          </a:p>
          <a:p>
            <a:pPr>
              <a:spcBef>
                <a:spcPts val="400"/>
              </a:spcBef>
              <a:defRPr sz="1200" b="1">
                <a:solidFill>
                  <a:srgbClr val="0F172A"/>
                </a:solidFill>
              </a:defRPr>
            </a:pPr>
            <a:r>
              <a:t>⚡ Chiến lược Persist(): </a:t>
            </a:r>
          </a:p>
          <a:p>
            <a:pPr>
              <a:spcAft>
                <a:spcPts val="400"/>
              </a:spcAft>
              <a:defRPr sz="1100">
                <a:solidFill>
                  <a:srgbClr val="334155"/>
                </a:solidFill>
              </a:defRPr>
            </a:pPr>
            <a:r>
              <a:t>Áp dụng df_joined.persist(MEMORY_AND_DISK) ngay sau phép Join 4 bảng, giúp 2 nhánh phân tích tiếp theo không phải tính toán lại từ đầu.</a:t>
            </a:r>
          </a:p>
          <a:p>
            <a:pPr>
              <a:spcBef>
                <a:spcPts val="400"/>
              </a:spcBef>
              <a:defRPr sz="1200" b="1">
                <a:solidFill>
                  <a:srgbClr val="0F172A"/>
                </a:solidFill>
              </a:defRPr>
            </a:pPr>
            <a:r>
              <a:t>⚡ Spark SQL Views: </a:t>
            </a:r>
          </a:p>
          <a:p>
            <a:pPr>
              <a:spcAft>
                <a:spcPts val="400"/>
              </a:spcAft>
              <a:defRPr sz="1100">
                <a:solidFill>
                  <a:srgbClr val="334155"/>
                </a:solidFill>
              </a:defRPr>
            </a:pPr>
            <a:r>
              <a:t>Đăng ký bảng tạm v_kpi_telecom, cung cấp cú pháp ANSI SQL trực quan, gom nhóm theo trạm và công nghệ.</a:t>
            </a:r>
          </a:p>
        </p:txBody>
      </p:sp>
      <p:sp>
        <p:nvSpPr>
          <p:cNvPr id="8" name="Rounded Rectangle 7"/>
          <p:cNvSpPr/>
          <p:nvPr/>
        </p:nvSpPr>
        <p:spPr>
          <a:xfrm>
            <a:off x="6217920" y="1371600"/>
            <a:ext cx="5212080" cy="4937760"/>
          </a:xfrm>
          <a:prstGeom prst="roundRect">
            <a:avLst/>
          </a:prstGeom>
          <a:solidFill>
            <a:srgbClr val="0F172A"/>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572000"/>
          </a:xfrm>
          <a:prstGeom prst="rect">
            <a:avLst/>
          </a:prstGeom>
          <a:noFill/>
        </p:spPr>
        <p:txBody>
          <a:bodyPr wrap="square">
            <a:spAutoFit/>
          </a:bodyPr>
          <a:lstStyle/>
          <a:p>
            <a:pPr>
              <a:defRPr sz="1400" b="1">
                <a:solidFill>
                  <a:srgbClr val="38BDF8"/>
                </a:solidFill>
              </a:defRPr>
            </a:pPr>
            <a:r>
              <a:t>TRÍCH ĐOẠN MÃ NGUỒN PYSPARK CỐT LÕI</a:t>
            </a:r>
          </a:p>
          <a:p>
            <a:pPr>
              <a:defRPr sz="1000">
                <a:solidFill>
                  <a:srgbClr val="E2E8F0"/>
                </a:solidFill>
                <a:latin typeface="Consolas"/>
              </a:defRPr>
            </a:pPr>
            <a:r>
              <a:t># Đọc, lọc sạch và tính cột phái sinh</a:t>
            </a:r>
            <a:br/>
            <a:r>
              <a:t>df_clean = spark.read.csv(events_path, header=True) \</a:t>
            </a:r>
            <a:br/>
            <a:r>
              <a:t>    .filter((col("latency_ms") &gt;= 0) &amp; </a:t>
            </a:r>
            <a:br/>
            <a:r>
              <a:t>            (col("packet_loss_pct") &lt;= 100)) \</a:t>
            </a:r>
            <a:br/>
            <a:r>
              <a:t>    .withColumn("session_mb", (col("throughput")*5)/8)</a:t>
            </a:r>
            <a:br/>
            <a:br/>
            <a:r>
              <a:t># Join 4 bảng: Events, Towers, Cells, Complaints</a:t>
            </a:r>
            <a:br/>
            <a:r>
              <a:t>df_joined = df_clean.join(df_towers, "tower_id") \</a:t>
            </a:r>
            <a:br/>
            <a:r>
              <a:t>    .join(df_cells, ["tower_id", "cell_id"]) \</a:t>
            </a:r>
            <a:br/>
            <a:r>
              <a:t>    .join(df_complaints, ["tower_id", "cell_id"], "left")</a:t>
            </a:r>
            <a:br/>
            <a:br/>
            <a:r>
              <a:t># Tính toán chỉ số KPI bằng Spark SQL</a:t>
            </a:r>
            <a:br/>
            <a:r>
              <a:t>df_summary = spark.sql("""</a:t>
            </a:r>
            <a:br/>
            <a:r>
              <a:t>    SELECT tower_id, province, technology,</a:t>
            </a:r>
            <a:br/>
            <a:r>
              <a:t>           COUNT(event_id) AS total_sessions,</a:t>
            </a:r>
            <a:br/>
            <a:r>
              <a:t>           ROUND(AVG(latency_ms), 2) AS avg_lat,</a:t>
            </a:r>
            <a:br/>
            <a:r>
              <a:t>           ROUND((SUM(call_dropped)/COUNT(1))*100, 2) AS cdr_pct,</a:t>
            </a:r>
            <a:br/>
            <a:r>
              <a:t>           CASE WHEN AVG(latency_ms) &gt; 80 THEN 'DEGRADED'</a:t>
            </a:r>
            <a:br/>
            <a:r>
              <a:t>                ELSE 'NORMAL' END AS status</a:t>
            </a:r>
            <a:br/>
            <a:r>
              <a:t>    FROM v_telecom GROUP BY tower_id, province, technology</a:t>
            </a: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100" b="1">
                <a:solidFill>
                  <a:srgbClr val="94A3B8"/>
                </a:solidFill>
              </a:defRPr>
            </a:pPr>
            <a:r>
              <a:t>BÁO CÁO BÀI TẬP LỚN XỬ LÝ DỮ LIỆU LỚN (CTKU122)</a:t>
            </a:r>
          </a:p>
        </p:txBody>
      </p:sp>
      <p:sp>
        <p:nvSpPr>
          <p:cNvPr id="4" name="TextBox 3"/>
          <p:cNvSpPr txBox="1"/>
          <p:nvPr/>
        </p:nvSpPr>
        <p:spPr>
          <a:xfrm>
            <a:off x="731520" y="384048"/>
            <a:ext cx="10515600" cy="548640"/>
          </a:xfrm>
          <a:prstGeom prst="rect">
            <a:avLst/>
          </a:prstGeom>
          <a:noFill/>
        </p:spPr>
        <p:txBody>
          <a:bodyPr wrap="none">
            <a:spAutoFit/>
          </a:bodyPr>
          <a:lstStyle/>
          <a:p>
            <a:pPr>
              <a:defRPr sz="2200" b="1">
                <a:solidFill>
                  <a:srgbClr val="FFFFFF"/>
                </a:solidFill>
              </a:defRPr>
            </a:pPr>
            <a:r>
              <a:t>9. THUẬT TOÁN MAPREDUCE TỐI ƯU (COMPOSITE KEY &amp; PARTITIONER)</a:t>
            </a:r>
          </a:p>
        </p:txBody>
      </p:sp>
      <p:sp>
        <p:nvSpPr>
          <p:cNvPr id="5" name="Rectangle 4"/>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inh_3_2_luong_mapreduce.png"/>
          <p:cNvPicPr>
            <a:picLocks noChangeAspect="1"/>
          </p:cNvPicPr>
          <p:nvPr/>
        </p:nvPicPr>
        <p:blipFill>
          <a:blip r:embed="rId2"/>
          <a:stretch>
            <a:fillRect/>
          </a:stretch>
        </p:blipFill>
        <p:spPr>
          <a:xfrm>
            <a:off x="731520" y="1280160"/>
            <a:ext cx="10728655" cy="507172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100" b="1">
                <a:solidFill>
                  <a:srgbClr val="94A3B8"/>
                </a:solidFill>
              </a:defRPr>
            </a:pPr>
            <a:r>
              <a:t>BÁO CÁO BÀI TẬP LỚN XỬ LÝ DỮ LIỆU LỚN (CTKU122)</a:t>
            </a:r>
          </a:p>
        </p:txBody>
      </p:sp>
      <p:sp>
        <p:nvSpPr>
          <p:cNvPr id="4" name="TextBox 3"/>
          <p:cNvSpPr txBox="1"/>
          <p:nvPr/>
        </p:nvSpPr>
        <p:spPr>
          <a:xfrm>
            <a:off x="731520" y="384048"/>
            <a:ext cx="10515600" cy="548640"/>
          </a:xfrm>
          <a:prstGeom prst="rect">
            <a:avLst/>
          </a:prstGeom>
          <a:noFill/>
        </p:spPr>
        <p:txBody>
          <a:bodyPr wrap="none">
            <a:spAutoFit/>
          </a:bodyPr>
          <a:lstStyle/>
          <a:p>
            <a:pPr>
              <a:defRPr sz="2200" b="1">
                <a:solidFill>
                  <a:srgbClr val="FFFFFF"/>
                </a:solidFill>
              </a:defRPr>
            </a:pPr>
            <a:r>
              <a:t>10. KỊCH BẢN ETL &amp; PHÂN CỤM TRẠM LỖI VỚI APACHE PIG LATIN</a:t>
            </a:r>
          </a:p>
        </p:txBody>
      </p:sp>
      <p:sp>
        <p:nvSpPr>
          <p:cNvPr id="5" name="Rectangle 4"/>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754880" cy="4572000"/>
          </a:xfrm>
          <a:prstGeom prst="rect">
            <a:avLst/>
          </a:prstGeom>
          <a:noFill/>
        </p:spPr>
        <p:txBody>
          <a:bodyPr wrap="square">
            <a:spAutoFit/>
          </a:bodyPr>
          <a:lstStyle/>
          <a:p>
            <a:pPr>
              <a:defRPr sz="1500" b="1">
                <a:solidFill>
                  <a:srgbClr val="D97706"/>
                </a:solidFill>
              </a:defRPr>
            </a:pPr>
            <a:r>
              <a:t>CÁC BƯỚC XỬ LÝ PIG LATIN</a:t>
            </a:r>
          </a:p>
          <a:p>
            <a:pPr>
              <a:spcBef>
                <a:spcPts val="400"/>
              </a:spcBef>
              <a:defRPr sz="1200" b="1">
                <a:solidFill>
                  <a:srgbClr val="0F172A"/>
                </a:solidFill>
              </a:defRPr>
            </a:pPr>
            <a:r>
              <a:t>🐖 Khai báo Schema tường minh: </a:t>
            </a:r>
          </a:p>
          <a:p>
            <a:pPr>
              <a:spcAft>
                <a:spcPts val="400"/>
              </a:spcAft>
              <a:defRPr sz="1100">
                <a:solidFill>
                  <a:srgbClr val="334155"/>
                </a:solidFill>
              </a:defRPr>
            </a:pPr>
            <a:r>
              <a:t>LOAD dữ liệu với định dạng chuẩn PigStorage(',') và kiểu dữ liệu chính xác (double, int, chararray).</a:t>
            </a:r>
          </a:p>
          <a:p>
            <a:pPr>
              <a:spcBef>
                <a:spcPts val="400"/>
              </a:spcBef>
              <a:defRPr sz="1200" b="1">
                <a:solidFill>
                  <a:srgbClr val="0F172A"/>
                </a:solidFill>
              </a:defRPr>
            </a:pPr>
            <a:r>
              <a:t>🐖 Lọc và Khử trùng lặp: </a:t>
            </a:r>
          </a:p>
          <a:p>
            <a:pPr>
              <a:spcAft>
                <a:spcPts val="400"/>
              </a:spcAft>
              <a:defRPr sz="1100">
                <a:solidFill>
                  <a:srgbClr val="334155"/>
                </a:solidFill>
              </a:defRPr>
            </a:pPr>
            <a:r>
              <a:t>Áp dụng mệnh đề FILTER loại bỏ dữ liệu âm, lỗi cảm biến và DISTINCT để đảm bảo tính duy nhất.</a:t>
            </a:r>
          </a:p>
          <a:p>
            <a:pPr>
              <a:spcBef>
                <a:spcPts val="400"/>
              </a:spcBef>
              <a:defRPr sz="1200" b="1">
                <a:solidFill>
                  <a:srgbClr val="0F172A"/>
                </a:solidFill>
              </a:defRPr>
            </a:pPr>
            <a:r>
              <a:t>🐖 Join 3 bảng: </a:t>
            </a:r>
          </a:p>
          <a:p>
            <a:pPr>
              <a:spcAft>
                <a:spcPts val="400"/>
              </a:spcAft>
              <a:defRPr sz="1100">
                <a:solidFill>
                  <a:srgbClr val="334155"/>
                </a:solidFill>
              </a:defRPr>
            </a:pPr>
            <a:r>
              <a:t>JOIN giữa sự kiện với bts_catalog theo tower_id và cells_catalog theo cell_id.</a:t>
            </a:r>
          </a:p>
          <a:p>
            <a:pPr>
              <a:spcBef>
                <a:spcPts val="400"/>
              </a:spcBef>
              <a:defRPr sz="1200" b="1">
                <a:solidFill>
                  <a:srgbClr val="0F172A"/>
                </a:solidFill>
              </a:defRPr>
            </a:pPr>
            <a:r>
              <a:t>🐖 Gom nhóm đa chiều: </a:t>
            </a:r>
          </a:p>
          <a:p>
            <a:pPr>
              <a:spcAft>
                <a:spcPts val="400"/>
              </a:spcAft>
              <a:defRPr sz="1100">
                <a:solidFill>
                  <a:srgbClr val="334155"/>
                </a:solidFill>
              </a:defRPr>
            </a:pPr>
            <a:r>
              <a:t>GROUP BY theo (tower_id, technology) để tính toán KPI trên từng băng tần.</a:t>
            </a:r>
          </a:p>
          <a:p>
            <a:pPr>
              <a:spcBef>
                <a:spcPts val="400"/>
              </a:spcBef>
              <a:defRPr sz="1200" b="1">
                <a:solidFill>
                  <a:srgbClr val="0F172A"/>
                </a:solidFill>
              </a:defRPr>
            </a:pPr>
            <a:r>
              <a:t>🐖 Tối ưu hóa Nested ORDER: </a:t>
            </a:r>
          </a:p>
          <a:p>
            <a:pPr>
              <a:spcAft>
                <a:spcPts val="400"/>
              </a:spcAft>
              <a:defRPr sz="1100">
                <a:solidFill>
                  <a:srgbClr val="334155"/>
                </a:solidFill>
              </a:defRPr>
            </a:pPr>
            <a:r>
              <a:t>Giải pháp vượt qua lỗi Deserialization trên Hadoop 3.3.6: GROUP ALL và ORDER/LIMIT 10 cục bộ trong Reducer.</a:t>
            </a:r>
          </a:p>
          <a:p>
            <a:pPr>
              <a:spcBef>
                <a:spcPts val="400"/>
              </a:spcBef>
              <a:defRPr sz="1200" b="1">
                <a:solidFill>
                  <a:srgbClr val="0F172A"/>
                </a:solidFill>
              </a:defRPr>
            </a:pPr>
            <a:r>
              <a:t>🐖 Kết quả thực thi YARN (Job 0027): </a:t>
            </a:r>
          </a:p>
          <a:p>
            <a:pPr>
              <a:spcAft>
                <a:spcPts val="400"/>
              </a:spcAft>
              <a:defRPr sz="1100">
                <a:solidFill>
                  <a:srgbClr val="334155"/>
                </a:solidFill>
              </a:defRPr>
            </a:pPr>
            <a:r>
              <a:t>Hoàn thành trong 18.0 giây; cấp phát 62,755 MB-seconds; trích xuất chính xác Top 10 trạm suy thoái.</a:t>
            </a:r>
          </a:p>
        </p:txBody>
      </p:sp>
      <p:sp>
        <p:nvSpPr>
          <p:cNvPr id="8" name="Rounded Rectangle 7"/>
          <p:cNvSpPr/>
          <p:nvPr/>
        </p:nvSpPr>
        <p:spPr>
          <a:xfrm>
            <a:off x="6217920" y="1371600"/>
            <a:ext cx="5212080" cy="4937760"/>
          </a:xfrm>
          <a:prstGeom prst="roundRect">
            <a:avLst/>
          </a:prstGeom>
          <a:solidFill>
            <a:srgbClr val="0F172A"/>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572000"/>
          </a:xfrm>
          <a:prstGeom prst="rect">
            <a:avLst/>
          </a:prstGeom>
          <a:noFill/>
        </p:spPr>
        <p:txBody>
          <a:bodyPr wrap="square">
            <a:spAutoFit/>
          </a:bodyPr>
          <a:lstStyle/>
          <a:p>
            <a:pPr>
              <a:defRPr sz="1400" b="1">
                <a:solidFill>
                  <a:srgbClr val="FBBF24"/>
                </a:solidFill>
              </a:defRPr>
            </a:pPr>
            <a:r>
              <a:t>KỊCH BẢN PIG LATIN THỰC THI (Job 0027)</a:t>
            </a:r>
          </a:p>
          <a:p>
            <a:pPr>
              <a:defRPr sz="950">
                <a:solidFill>
                  <a:srgbClr val="E2E8F0"/>
                </a:solidFill>
                <a:latin typeface="Consolas"/>
              </a:defRPr>
            </a:pPr>
            <a:r>
              <a:t>-- Nạp và lọc dữ liệu sạch</a:t>
            </a:r>
            <a:br/>
            <a:r>
              <a:t>events_clean = FILTER raw_events BY </a:t>
            </a:r>
            <a:br/>
            <a:r>
              <a:t>    (latency_ms &gt;= 0.0) AND (throughput_mbps &gt;= 0.0);</a:t>
            </a:r>
            <a:br/>
            <a:br/>
            <a:r>
              <a:t>-- Join 3 bảng và gom nhóm</a:t>
            </a:r>
            <a:br/>
            <a:r>
              <a:t>joined = JOIN events_clean BY tower_id, towers BY tower_id;</a:t>
            </a:r>
            <a:br/>
            <a:r>
              <a:t>grp = GROUP joined BY (events_clean::tower_id, events_clean::technology);</a:t>
            </a:r>
            <a:br/>
            <a:br/>
            <a:r>
              <a:t>-- Tính toán KPI</a:t>
            </a:r>
            <a:br/>
            <a:r>
              <a:t>kpi_summary = FOREACH grp GENERATE group.tower_id, group.technology,</a:t>
            </a:r>
            <a:br/>
            <a:r>
              <a:t>    COUNT(joined) AS total_events,</a:t>
            </a:r>
            <a:br/>
            <a:r>
              <a:t>    ROUND_TO(AVG(joined.events_clean::latency_ms), 2) AS avg_lat,</a:t>
            </a:r>
            <a:br/>
            <a:r>
              <a:t>    ROUND_TO((SUM(joined.events_clean::call_dropped)*100.0/COUNT(joined)), 3) AS cdr_pct;</a:t>
            </a:r>
            <a:br/>
            <a:br/>
            <a:r>
              <a:t>-- Tách trạm suy thoái &amp; Lấy Top 10</a:t>
            </a:r>
            <a:br/>
            <a:r>
              <a:t>degraded_towers = FILTER kpi_summary BY (cdr_pct &gt; 2.0) OR (avg_lat &gt; 80.0);</a:t>
            </a:r>
            <a:br/>
            <a:r>
              <a:t>grouped_all = GROUP degraded_towers ALL;</a:t>
            </a:r>
            <a:br/>
            <a:r>
              <a:t>top10 = FOREACH grouped_all {</a:t>
            </a:r>
            <a:br/>
            <a:r>
              <a:t>    sorted = ORDER degraded_towers BY cdr_pct DESC;</a:t>
            </a:r>
            <a:br/>
            <a:r>
              <a:t>    LIMIT sorted 10;</a:t>
            </a:r>
            <a:br/>
            <a:r>
              <a:t>};</a:t>
            </a:r>
            <a:br/>
            <a:r>
              <a:t>STORE top10 INTO '/telecom/output/top10_pig';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100" b="1">
                <a:solidFill>
                  <a:srgbClr val="94A3B8"/>
                </a:solidFill>
              </a:defRPr>
            </a:pPr>
            <a:r>
              <a:t>BÁO CÁO BÀI TẬP LỚN XỬ LÝ DỮ LIỆU LỚN (CTKU122)</a:t>
            </a:r>
          </a:p>
        </p:txBody>
      </p:sp>
      <p:sp>
        <p:nvSpPr>
          <p:cNvPr id="4" name="TextBox 3"/>
          <p:cNvSpPr txBox="1"/>
          <p:nvPr/>
        </p:nvSpPr>
        <p:spPr>
          <a:xfrm>
            <a:off x="731520" y="384048"/>
            <a:ext cx="10515600" cy="548640"/>
          </a:xfrm>
          <a:prstGeom prst="rect">
            <a:avLst/>
          </a:prstGeom>
          <a:noFill/>
        </p:spPr>
        <p:txBody>
          <a:bodyPr wrap="none">
            <a:spAutoFit/>
          </a:bodyPr>
          <a:lstStyle/>
          <a:p>
            <a:pPr>
              <a:defRPr sz="2200" b="1">
                <a:solidFill>
                  <a:srgbClr val="FFFFFF"/>
                </a:solidFill>
              </a:defRPr>
            </a:pPr>
            <a:r>
              <a:t>11. THIẾT KẾ CƠ SỞ DỮ LIỆU NOSQL APACHE HBASE (&lt; 10ms)</a:t>
            </a:r>
          </a:p>
        </p:txBody>
      </p:sp>
      <p:sp>
        <p:nvSpPr>
          <p:cNvPr id="5" name="Rectangle 4"/>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754880" cy="4572000"/>
          </a:xfrm>
          <a:prstGeom prst="rect">
            <a:avLst/>
          </a:prstGeom>
          <a:noFill/>
        </p:spPr>
        <p:txBody>
          <a:bodyPr wrap="square">
            <a:spAutoFit/>
          </a:bodyPr>
          <a:lstStyle/>
          <a:p>
            <a:pPr>
              <a:defRPr sz="1500" b="1">
                <a:solidFill>
                  <a:srgbClr val="2563EB"/>
                </a:solidFill>
              </a:defRPr>
            </a:pPr>
            <a:r>
              <a:t>THIẾT KẾ ROWKEY &amp; COLUMN FAMILIES</a:t>
            </a:r>
          </a:p>
          <a:p>
            <a:pPr>
              <a:spcBef>
                <a:spcPts val="400"/>
              </a:spcBef>
              <a:defRPr sz="1200" b="1">
                <a:solidFill>
                  <a:srgbClr val="0F172A"/>
                </a:solidFill>
              </a:defRPr>
            </a:pPr>
            <a:r>
              <a:t>🧱 Thiết kế RowKey: </a:t>
            </a:r>
          </a:p>
          <a:p>
            <a:pPr>
              <a:spcAft>
                <a:spcPts val="400"/>
              </a:spcAft>
              <a:defRPr sz="1100">
                <a:solidFill>
                  <a:srgbClr val="334155"/>
                </a:solidFill>
              </a:defRPr>
            </a:pPr>
            <a:r>
              <a:t>reverse(tower_id) + '_' + reverse_timestamp (VD: '100_REWOT_9223372036854775807'). Đảo ngược timestamp giúp sự kiện MỚI NHẤT luôn nằm ở ĐẦU TIÊN, truy vấn NOC Scan lấy ngay dữ liệu nóng không phải duyệt lịch sử.</a:t>
            </a:r>
          </a:p>
          <a:p>
            <a:pPr>
              <a:spcBef>
                <a:spcPts val="400"/>
              </a:spcBef>
              <a:defRPr sz="1200" b="1">
                <a:solidFill>
                  <a:srgbClr val="0F172A"/>
                </a:solidFill>
              </a:defRPr>
            </a:pPr>
            <a:r>
              <a:t>🧱 Chống Hotspotting: </a:t>
            </a:r>
          </a:p>
          <a:p>
            <a:pPr>
              <a:spcAft>
                <a:spcPts val="400"/>
              </a:spcAft>
              <a:defRPr sz="1100">
                <a:solidFill>
                  <a:srgbClr val="334155"/>
                </a:solidFill>
              </a:defRPr>
            </a:pPr>
            <a:r>
              <a:t>Đảo ngược chuỗi tower_id kết hợp Pre-splitting phân tán đều khóa ghi trên các RegionServer, triệt tiêu nghẽn cổ chai ghi.</a:t>
            </a:r>
          </a:p>
          <a:p>
            <a:pPr>
              <a:spcBef>
                <a:spcPts val="400"/>
              </a:spcBef>
              <a:defRPr sz="1200" b="1">
                <a:solidFill>
                  <a:srgbClr val="0F172A"/>
                </a:solidFill>
              </a:defRPr>
            </a:pPr>
            <a:r>
              <a:t>🧱 Column Family 1: kpi_metrics: </a:t>
            </a:r>
          </a:p>
          <a:p>
            <a:pPr>
              <a:spcAft>
                <a:spcPts val="400"/>
              </a:spcAft>
              <a:defRPr sz="1100">
                <a:solidFill>
                  <a:srgbClr val="334155"/>
                </a:solidFill>
              </a:defRPr>
            </a:pPr>
            <a:r>
              <a:t>Lưu avg_throughput, avg_latency, avg_packet_loss, call_drop_rate, active_users. VERSIONS = 3, TTL = 90 ngày (7776000s).</a:t>
            </a:r>
          </a:p>
          <a:p>
            <a:pPr>
              <a:spcBef>
                <a:spcPts val="400"/>
              </a:spcBef>
              <a:defRPr sz="1200" b="1">
                <a:solidFill>
                  <a:srgbClr val="0F172A"/>
                </a:solidFill>
              </a:defRPr>
            </a:pPr>
            <a:r>
              <a:t>🧱 Column Family 2: status_flags: </a:t>
            </a:r>
          </a:p>
          <a:p>
            <a:pPr>
              <a:spcAft>
                <a:spcPts val="400"/>
              </a:spcAft>
              <a:defRPr sz="1100">
                <a:solidFill>
                  <a:srgbClr val="334155"/>
                </a:solidFill>
              </a:defRPr>
            </a:pPr>
            <a:r>
              <a:t>Lưu cờ cảnh báo health_category, has_complaint, degradation_flag. VERSIONS = 1.</a:t>
            </a:r>
          </a:p>
          <a:p>
            <a:pPr>
              <a:spcBef>
                <a:spcPts val="400"/>
              </a:spcBef>
              <a:defRPr sz="1200" b="1">
                <a:solidFill>
                  <a:srgbClr val="0F172A"/>
                </a:solidFill>
              </a:defRPr>
            </a:pPr>
            <a:r>
              <a:t>🧱 Nén Snappy: </a:t>
            </a:r>
          </a:p>
          <a:p>
            <a:pPr>
              <a:spcAft>
                <a:spcPts val="400"/>
              </a:spcAft>
              <a:defRPr sz="1100">
                <a:solidFill>
                  <a:srgbClr val="334155"/>
                </a:solidFill>
              </a:defRPr>
            </a:pPr>
            <a:r>
              <a:t>Kích hoạt nén Snappy trên toàn bộ Column Families, giảm 60% dung lượng HDFS mà không suy giảm tốc độ CPU.</a:t>
            </a:r>
          </a:p>
        </p:txBody>
      </p:sp>
      <p:sp>
        <p:nvSpPr>
          <p:cNvPr id="8" name="Rounded Rectangle 7"/>
          <p:cNvSpPr/>
          <p:nvPr/>
        </p:nvSpPr>
        <p:spPr>
          <a:xfrm>
            <a:off x="6217920" y="1371600"/>
            <a:ext cx="5212080" cy="493776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572000"/>
          </a:xfrm>
          <a:prstGeom prst="rect">
            <a:avLst/>
          </a:prstGeom>
          <a:noFill/>
        </p:spPr>
        <p:txBody>
          <a:bodyPr wrap="square">
            <a:spAutoFit/>
          </a:bodyPr>
          <a:lstStyle/>
          <a:p>
            <a:pPr>
              <a:defRPr sz="1500" b="1">
                <a:solidFill>
                  <a:srgbClr val="059669"/>
                </a:solidFill>
              </a:defRPr>
            </a:pPr>
            <a:r>
              <a:t>CƠ CHẾ LƯU TRỮ LSM-TREE &amp; BẢO MẬT</a:t>
            </a:r>
          </a:p>
          <a:p>
            <a:pPr>
              <a:spcBef>
                <a:spcPts val="400"/>
              </a:spcBef>
              <a:defRPr sz="1200" b="1">
                <a:solidFill>
                  <a:srgbClr val="0F172A"/>
                </a:solidFill>
              </a:defRPr>
            </a:pPr>
            <a:r>
              <a:t>🛡️ LSM-Tree &amp; MemStore: </a:t>
            </a:r>
          </a:p>
          <a:p>
            <a:pPr>
              <a:spcAft>
                <a:spcPts val="400"/>
              </a:spcAft>
              <a:defRPr sz="1100">
                <a:solidFill>
                  <a:srgbClr val="334155"/>
                </a:solidFill>
              </a:defRPr>
            </a:pPr>
            <a:r>
              <a:t>Dữ liệu ghi vào WAL và MemStore trên RAM trước khi flush xuống HFile trên đĩa. Thao tác ghi đạt tốc độ hàng trăm nghìn event/s.</a:t>
            </a:r>
          </a:p>
          <a:p>
            <a:pPr>
              <a:spcBef>
                <a:spcPts val="400"/>
              </a:spcBef>
              <a:defRPr sz="1200" b="1">
                <a:solidFill>
                  <a:srgbClr val="0F172A"/>
                </a:solidFill>
              </a:defRPr>
            </a:pPr>
            <a:r>
              <a:t>🛡️ Độ trễ truy cập tức thời: </a:t>
            </a:r>
          </a:p>
          <a:p>
            <a:pPr>
              <a:spcAft>
                <a:spcPts val="400"/>
              </a:spcAft>
              <a:defRPr sz="1100">
                <a:solidFill>
                  <a:srgbClr val="334155"/>
                </a:solidFill>
              </a:defRPr>
            </a:pPr>
            <a:r>
              <a:t>HBase cung cấp API Get/Scan ngẫu nhiên với độ trễ &lt; 10 mili-giây, đáp ứng tiêu chuẩn cho Dashboard điều hành NOC thời gian thực.</a:t>
            </a:r>
          </a:p>
          <a:p>
            <a:pPr>
              <a:spcBef>
                <a:spcPts val="400"/>
              </a:spcBef>
              <a:defRPr sz="1200" b="1">
                <a:solidFill>
                  <a:srgbClr val="0F172A"/>
                </a:solidFill>
              </a:defRPr>
            </a:pPr>
            <a:r>
              <a:t>🛡️ Cơ chế Snapshot không gián đoạn: </a:t>
            </a:r>
          </a:p>
          <a:p>
            <a:pPr>
              <a:spcAft>
                <a:spcPts val="400"/>
              </a:spcAft>
              <a:defRPr sz="1100">
                <a:solidFill>
                  <a:srgbClr val="334155"/>
                </a:solidFill>
              </a:defRPr>
            </a:pPr>
            <a:r>
              <a:t>Lệnh snapshot 'telecom_kpi', 'telecom_kpi_snap' chụp ảnh metadata trong 1-2s mà không cần disable bảng, bảo toàn liên tục dịch vụ.</a:t>
            </a:r>
          </a:p>
          <a:p>
            <a:pPr>
              <a:spcBef>
                <a:spcPts val="400"/>
              </a:spcBef>
              <a:defRPr sz="1200" b="1">
                <a:solidFill>
                  <a:srgbClr val="0F172A"/>
                </a:solidFill>
              </a:defRPr>
            </a:pPr>
            <a:r>
              <a:t>🛡️ Phân quyền bảo mật ACL: </a:t>
            </a:r>
          </a:p>
          <a:p>
            <a:pPr>
              <a:spcAft>
                <a:spcPts val="400"/>
              </a:spcAft>
              <a:defRPr sz="1100">
                <a:solidFill>
                  <a:srgbClr val="334155"/>
                </a:solidFill>
              </a:defRPr>
            </a:pPr>
            <a:r>
              <a:t>Cấp quyền RW cho đội NOC/SOC (telecom_ops), quyền R cho đội phân tích BI (telecom_analysts), và RWCA cho quản trị viên hệ thống.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100" b="1">
                <a:solidFill>
                  <a:srgbClr val="94A3B8"/>
                </a:solidFill>
              </a:defRPr>
            </a:pPr>
            <a:r>
              <a:t>BÁO CÁO BÀI TẬP LỚN XỬ LÝ DỮ LIỆU LỚN (CTKU122)</a:t>
            </a:r>
          </a:p>
        </p:txBody>
      </p:sp>
      <p:sp>
        <p:nvSpPr>
          <p:cNvPr id="4" name="TextBox 3"/>
          <p:cNvSpPr txBox="1"/>
          <p:nvPr/>
        </p:nvSpPr>
        <p:spPr>
          <a:xfrm>
            <a:off x="731520" y="384048"/>
            <a:ext cx="10515600" cy="548640"/>
          </a:xfrm>
          <a:prstGeom prst="rect">
            <a:avLst/>
          </a:prstGeom>
          <a:noFill/>
        </p:spPr>
        <p:txBody>
          <a:bodyPr wrap="none">
            <a:spAutoFit/>
          </a:bodyPr>
          <a:lstStyle/>
          <a:p>
            <a:pPr>
              <a:defRPr sz="2200" b="1">
                <a:solidFill>
                  <a:srgbClr val="FFFFFF"/>
                </a:solidFill>
              </a:defRPr>
            </a:pPr>
            <a:r>
              <a:t>12. MÔ PHỎNG PHÂN TÍCH NGHIỆP VỤ NO-CODE VỚI BIGSHEETS</a:t>
            </a:r>
          </a:p>
        </p:txBody>
      </p:sp>
      <p:sp>
        <p:nvSpPr>
          <p:cNvPr id="5" name="Rectangle 4"/>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igsheets_dashboard_preview.jpg"/>
          <p:cNvPicPr>
            <a:picLocks noChangeAspect="1"/>
          </p:cNvPicPr>
          <p:nvPr/>
        </p:nvPicPr>
        <p:blipFill>
          <a:blip r:embed="rId2"/>
          <a:stretch>
            <a:fillRect/>
          </a:stretch>
        </p:blipFill>
        <p:spPr>
          <a:xfrm>
            <a:off x="731520" y="1280160"/>
            <a:ext cx="10728655" cy="5988087"/>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100" b="1">
                <a:solidFill>
                  <a:srgbClr val="94A3B8"/>
                </a:solidFill>
              </a:defRPr>
            </a:pPr>
            <a:r>
              <a:t>BÁO CÁO BÀI TẬP LỚN XỬ LÝ DỮ LIỆU LỚN (CTKU122)</a:t>
            </a:r>
          </a:p>
        </p:txBody>
      </p:sp>
      <p:sp>
        <p:nvSpPr>
          <p:cNvPr id="4" name="TextBox 3"/>
          <p:cNvSpPr txBox="1"/>
          <p:nvPr/>
        </p:nvSpPr>
        <p:spPr>
          <a:xfrm>
            <a:off x="731520" y="384048"/>
            <a:ext cx="10515600" cy="548640"/>
          </a:xfrm>
          <a:prstGeom prst="rect">
            <a:avLst/>
          </a:prstGeom>
          <a:noFill/>
        </p:spPr>
        <p:txBody>
          <a:bodyPr wrap="none">
            <a:spAutoFit/>
          </a:bodyPr>
          <a:lstStyle/>
          <a:p>
            <a:pPr>
              <a:defRPr sz="2200" b="1">
                <a:solidFill>
                  <a:srgbClr val="FFFFFF"/>
                </a:solidFill>
              </a:defRPr>
            </a:pPr>
            <a:r>
              <a:t>13. KHOA HỌC DỮ LIỆU &amp; MÔ HÌNH HỒI QUY LOGISTIC BẰNG R</a:t>
            </a:r>
          </a:p>
        </p:txBody>
      </p:sp>
      <p:sp>
        <p:nvSpPr>
          <p:cNvPr id="5" name="Rectangle 4"/>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studio_execution_preview.png"/>
          <p:cNvPicPr>
            <a:picLocks noChangeAspect="1"/>
          </p:cNvPicPr>
          <p:nvPr/>
        </p:nvPicPr>
        <p:blipFill>
          <a:blip r:embed="rId2"/>
          <a:stretch>
            <a:fillRect/>
          </a:stretch>
        </p:blipFill>
        <p:spPr>
          <a:xfrm>
            <a:off x="731520" y="1280160"/>
            <a:ext cx="10728655" cy="12006713"/>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100" b="1">
                <a:solidFill>
                  <a:srgbClr val="94A3B8"/>
                </a:solidFill>
              </a:defRPr>
            </a:pPr>
            <a:r>
              <a:t>BÁO CÁO BÀI TẬP LỚN XỬ LÝ DỮ LIỆU LỚN (CTKU122)</a:t>
            </a:r>
          </a:p>
        </p:txBody>
      </p:sp>
      <p:sp>
        <p:nvSpPr>
          <p:cNvPr id="4" name="TextBox 3"/>
          <p:cNvSpPr txBox="1"/>
          <p:nvPr/>
        </p:nvSpPr>
        <p:spPr>
          <a:xfrm>
            <a:off x="731520" y="384048"/>
            <a:ext cx="10515600" cy="548640"/>
          </a:xfrm>
          <a:prstGeom prst="rect">
            <a:avLst/>
          </a:prstGeom>
          <a:noFill/>
        </p:spPr>
        <p:txBody>
          <a:bodyPr wrap="none">
            <a:spAutoFit/>
          </a:bodyPr>
          <a:lstStyle/>
          <a:p>
            <a:pPr>
              <a:defRPr sz="2200" b="1">
                <a:solidFill>
                  <a:srgbClr val="FFFFFF"/>
                </a:solidFill>
              </a:defRPr>
            </a:pPr>
            <a:r>
              <a:t>14. KẾT QUẢ THỰC NGHIỆM: TOP 10 TRẠM BTS CHẤT LƯỢNG KÉM NHẤT</a:t>
            </a:r>
          </a:p>
        </p:txBody>
      </p:sp>
      <p:sp>
        <p:nvSpPr>
          <p:cNvPr id="5" name="Rectangle 4"/>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_bigsheets_top10_worst_towers.png"/>
          <p:cNvPicPr>
            <a:picLocks noChangeAspect="1"/>
          </p:cNvPicPr>
          <p:nvPr/>
        </p:nvPicPr>
        <p:blipFill>
          <a:blip r:embed="rId2"/>
          <a:stretch>
            <a:fillRect/>
          </a:stretch>
        </p:blipFill>
        <p:spPr>
          <a:xfrm>
            <a:off x="731520" y="1280160"/>
            <a:ext cx="10728655" cy="5531393"/>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100" b="1">
                <a:solidFill>
                  <a:srgbClr val="94A3B8"/>
                </a:solidFill>
              </a:defRPr>
            </a:pPr>
            <a:r>
              <a:t>BÁO CÁO BÀI TẬP LỚN XỬ LÝ DỮ LIỆU LỚN (CTKU122)</a:t>
            </a:r>
          </a:p>
        </p:txBody>
      </p:sp>
      <p:sp>
        <p:nvSpPr>
          <p:cNvPr id="4" name="TextBox 3"/>
          <p:cNvSpPr txBox="1"/>
          <p:nvPr/>
        </p:nvSpPr>
        <p:spPr>
          <a:xfrm>
            <a:off x="731520" y="384048"/>
            <a:ext cx="10515600" cy="548640"/>
          </a:xfrm>
          <a:prstGeom prst="rect">
            <a:avLst/>
          </a:prstGeom>
          <a:noFill/>
        </p:spPr>
        <p:txBody>
          <a:bodyPr wrap="none">
            <a:spAutoFit/>
          </a:bodyPr>
          <a:lstStyle/>
          <a:p>
            <a:pPr>
              <a:defRPr sz="2200" b="1">
                <a:solidFill>
                  <a:srgbClr val="FFFFFF"/>
                </a:solidFill>
              </a:defRPr>
            </a:pPr>
            <a:r>
              <a:t>15. TRỰC QUAN HÓA CHUYÊN SÂU: ĐỘ TRỄ, MẤT GÓI &amp; RỚT MẠNG</a:t>
            </a:r>
          </a:p>
        </p:txBody>
      </p:sp>
      <p:sp>
        <p:nvSpPr>
          <p:cNvPr id="5" name="Rectangle 4"/>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_latency_by_tech.png"/>
          <p:cNvPicPr>
            <a:picLocks noChangeAspect="1"/>
          </p:cNvPicPr>
          <p:nvPr/>
        </p:nvPicPr>
        <p:blipFill>
          <a:blip r:embed="rId2"/>
          <a:stretch>
            <a:fillRect/>
          </a:stretch>
        </p:blipFill>
        <p:spPr>
          <a:xfrm>
            <a:off x="731520" y="1371600"/>
            <a:ext cx="5212080" cy="3257550"/>
          </a:xfrm>
          <a:prstGeom prst="rect">
            <a:avLst/>
          </a:prstGeom>
        </p:spPr>
      </p:pic>
      <p:pic>
        <p:nvPicPr>
          <p:cNvPr id="7" name="Picture 6" descr="chart2_packet_loss_vs_drop_rate.png"/>
          <p:cNvPicPr>
            <a:picLocks noChangeAspect="1"/>
          </p:cNvPicPr>
          <p:nvPr/>
        </p:nvPicPr>
        <p:blipFill>
          <a:blip r:embed="rId3"/>
          <a:stretch>
            <a:fillRect/>
          </a:stretch>
        </p:blipFill>
        <p:spPr>
          <a:xfrm>
            <a:off x="6217920" y="1371600"/>
            <a:ext cx="5212080" cy="28956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100" b="1">
                <a:solidFill>
                  <a:srgbClr val="94A3B8"/>
                </a:solidFill>
              </a:defRPr>
            </a:pPr>
            <a:r>
              <a:t>BÁO CÁO BÀI TẬP LỚN XỬ LÝ DỮ LIỆU LỚN (CTKU122)</a:t>
            </a:r>
          </a:p>
        </p:txBody>
      </p:sp>
      <p:sp>
        <p:nvSpPr>
          <p:cNvPr id="4" name="TextBox 3"/>
          <p:cNvSpPr txBox="1"/>
          <p:nvPr/>
        </p:nvSpPr>
        <p:spPr>
          <a:xfrm>
            <a:off x="731520" y="384048"/>
            <a:ext cx="10515600" cy="548640"/>
          </a:xfrm>
          <a:prstGeom prst="rect">
            <a:avLst/>
          </a:prstGeom>
          <a:noFill/>
        </p:spPr>
        <p:txBody>
          <a:bodyPr wrap="none">
            <a:spAutoFit/>
          </a:bodyPr>
          <a:lstStyle/>
          <a:p>
            <a:pPr>
              <a:defRPr sz="2200" b="1">
                <a:solidFill>
                  <a:srgbClr val="FFFFFF"/>
                </a:solidFill>
              </a:defRPr>
            </a:pPr>
            <a:r>
              <a:t>16. ĐỐI CHIẾU ĐỊNH LƯỢNG HIỆU NĂNG: SPARK VS MAPREDUCE VS PIG VS R</a:t>
            </a:r>
          </a:p>
        </p:txBody>
      </p:sp>
      <p:sp>
        <p:nvSpPr>
          <p:cNvPr id="5" name="Rectangle 4"/>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10728655"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40"/>
            <a:ext cx="10362895" cy="4754880"/>
          </a:xfrm>
          <a:prstGeom prst="rect">
            <a:avLst/>
          </a:prstGeom>
          <a:noFill/>
        </p:spPr>
        <p:txBody>
          <a:bodyPr wrap="square">
            <a:spAutoFit/>
          </a:bodyPr>
          <a:lstStyle/>
          <a:p>
            <a:pPr>
              <a:defRPr sz="1600" b="1">
                <a:solidFill>
                  <a:srgbClr val="0F172A"/>
                </a:solidFill>
              </a:defRPr>
            </a:pPr>
            <a:r>
              <a:t>MA TRẬN SO SÁNH ĐỊNH LƯỢNG HIỆU NĂNG &amp; TÀI NGUYÊN</a:t>
            </a:r>
          </a:p>
          <a:p>
            <a:pPr>
              <a:spcAft>
                <a:spcPts val="400"/>
              </a:spcAft>
              <a:defRPr sz="1100" b="1">
                <a:solidFill>
                  <a:srgbClr val="2563EB"/>
                </a:solidFill>
                <a:latin typeface="Consolas"/>
              </a:defRPr>
            </a:pPr>
            <a:r>
              <a:t>Tiêu chí đánh giá            | Apache Spark &amp; SQL       | Hadoop MapReduce (Java)  | Apache Pig Latin     | R &amp; SQLite Analysis</a:t>
            </a:r>
          </a:p>
          <a:p>
            <a:pPr>
              <a:spcAft>
                <a:spcPts val="400"/>
              </a:spcAft>
              <a:defRPr sz="1100" b="0">
                <a:solidFill>
                  <a:srgbClr val="334155"/>
                </a:solidFill>
                <a:latin typeface="Consolas"/>
              </a:defRPr>
            </a:pPr>
            <a:r>
              <a:t>Thời gian chạy (Runtime)     | 2.3 giây (Nhanh nhất)    | 35.4 giây (Chậm nhất)    | 18.0 giây (Trung bình) | 1.8 giây (Đơn máy)</a:t>
            </a:r>
          </a:p>
          <a:p>
            <a:pPr>
              <a:spcAft>
                <a:spcPts val="400"/>
              </a:spcAft>
              <a:defRPr sz="1100" b="0">
                <a:solidFill>
                  <a:srgbClr val="334155"/>
                </a:solidFill>
                <a:latin typeface="Consolas"/>
              </a:defRPr>
            </a:pPr>
            <a:r>
              <a:t>Cơ chế tính toán             | Đồ thị DAG In-Memory RAM | 2 pha đĩa cứng Map -&gt; Reduce | Dịch sang MapReduce/Tez | Xử lý Vector hóa trong RAM</a:t>
            </a:r>
          </a:p>
          <a:p>
            <a:pPr>
              <a:spcAft>
                <a:spcPts val="400"/>
              </a:spcAft>
              <a:defRPr sz="1100" b="0">
                <a:solidFill>
                  <a:srgbClr val="334155"/>
                </a:solidFill>
                <a:latin typeface="Consolas"/>
              </a:defRPr>
            </a:pPr>
            <a:r>
              <a:t>Lưu lượng Disk I/O           | Rất thấp (Giảm 85% I/O)  | Rất lớn (Spill map, merge sort) | Trung bình (Ghi đĩa sau Map) | Rất thấp (Đọc file SQLite)</a:t>
            </a:r>
          </a:p>
          <a:p>
            <a:pPr>
              <a:spcAft>
                <a:spcPts val="400"/>
              </a:spcAft>
              <a:defRPr sz="1100" b="0">
                <a:solidFill>
                  <a:srgbClr val="334155"/>
                </a:solidFill>
                <a:latin typeface="Consolas"/>
              </a:defRPr>
            </a:pPr>
            <a:r>
              <a:t>Bộ tối ưu ngầm định          | Catalyst Optimizer &amp; Tungsten | Thủ công (Combiner, Partitioner) | Pig Logical Optimizer | SQLite B-Tree Index</a:t>
            </a:r>
          </a:p>
          <a:p>
            <a:pPr>
              <a:spcAft>
                <a:spcPts val="400"/>
              </a:spcAft>
              <a:defRPr sz="1100" b="0">
                <a:solidFill>
                  <a:srgbClr val="334155"/>
                </a:solidFill>
                <a:latin typeface="Consolas"/>
              </a:defRPr>
            </a:pPr>
            <a:r>
              <a:t>Độ phức tạp mã nguồn         | Ngắn gọn, dễ đọc (50 dòng PySpark) | Dài, phức tạp (300+ dòng Java) | Rất ngắn (25 dòng Pig Latin) | Chuyên sâu thống kê (80 dòng R)</a:t>
            </a:r>
          </a:p>
          <a:p>
            <a:pPr>
              <a:spcAft>
                <a:spcPts val="400"/>
              </a:spcAft>
              <a:defRPr sz="1100" b="0">
                <a:solidFill>
                  <a:srgbClr val="334155"/>
                </a:solidFill>
                <a:latin typeface="Consolas"/>
              </a:defRPr>
            </a:pPr>
            <a:r>
              <a:t>Vai trò kiến trúc            | Xử lý phân tán chính &amp; Streaming | Batch job cực lớn qua đêm | ETL chuyển đổi nhanh Data Lake | Data Science, ML dự báo &amp; Visual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100" b="1">
                <a:solidFill>
                  <a:srgbClr val="94A3B8"/>
                </a:solidFill>
              </a:defRPr>
            </a:pPr>
            <a:r>
              <a:t>BÁO CÁO BÀI TẬP LỚN XỬ LÝ DỮ LIỆU LỚN (CTKU122)</a:t>
            </a:r>
          </a:p>
        </p:txBody>
      </p:sp>
      <p:sp>
        <p:nvSpPr>
          <p:cNvPr id="4" name="TextBox 3"/>
          <p:cNvSpPr txBox="1"/>
          <p:nvPr/>
        </p:nvSpPr>
        <p:spPr>
          <a:xfrm>
            <a:off x="731520" y="384048"/>
            <a:ext cx="10515600" cy="548640"/>
          </a:xfrm>
          <a:prstGeom prst="rect">
            <a:avLst/>
          </a:prstGeom>
          <a:noFill/>
        </p:spPr>
        <p:txBody>
          <a:bodyPr wrap="none">
            <a:spAutoFit/>
          </a:bodyPr>
          <a:lstStyle/>
          <a:p>
            <a:pPr>
              <a:defRPr sz="2200" b="1">
                <a:solidFill>
                  <a:srgbClr val="FFFFFF"/>
                </a:solidFill>
              </a:defRPr>
            </a:pPr>
            <a:r>
              <a:t>17. NĂM KHUYẾN NGHỊ HÀNH ĐỘNG TỐI ƯU HÓA MẠNG NOC</a:t>
            </a:r>
          </a:p>
        </p:txBody>
      </p:sp>
      <p:sp>
        <p:nvSpPr>
          <p:cNvPr id="5" name="Rectangle 4"/>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10728655" cy="960120"/>
          </a:xfrm>
          <a:prstGeom prst="roundRect">
            <a:avLst/>
          </a:prstGeom>
          <a:solidFill>
            <a:srgbClr val="F8FAFC"/>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99032"/>
            <a:ext cx="10362895" cy="822960"/>
          </a:xfrm>
          <a:prstGeom prst="rect">
            <a:avLst/>
          </a:prstGeom>
          <a:noFill/>
        </p:spPr>
        <p:txBody>
          <a:bodyPr wrap="square">
            <a:spAutoFit/>
          </a:bodyPr>
          <a:lstStyle/>
          <a:p>
            <a:pPr>
              <a:defRPr sz="1300" b="1">
                <a:solidFill>
                  <a:srgbClr val="DC2626"/>
                </a:solidFill>
              </a:defRPr>
            </a:pPr>
            <a:r>
              <a:t>KHUYẾN NGHỊ 1 (Ưu tiên P1 - 48 giờ) - Can thiệp khẩn cấp Top 3 trạm lỗi TOWER_003, TOWER_008, TOWER_015:</a:t>
            </a:r>
          </a:p>
          <a:p>
            <a:pPr>
              <a:defRPr sz="1150">
                <a:solidFill>
                  <a:srgbClr val="0F172A"/>
                </a:solidFill>
              </a:defRPr>
            </a:pPr>
            <a:r>
              <a:t>👉 Hành động kỹ thuật: Điều xe phát sóng COW chia tải vô tuyến; nâng cấp cáp quang Backhaul từ 100Mbps lên 1Gbps.</a:t>
            </a:r>
          </a:p>
        </p:txBody>
      </p:sp>
      <p:sp>
        <p:nvSpPr>
          <p:cNvPr id="8" name="Rounded Rectangle 7"/>
          <p:cNvSpPr/>
          <p:nvPr/>
        </p:nvSpPr>
        <p:spPr>
          <a:xfrm>
            <a:off x="731520" y="2377439"/>
            <a:ext cx="10728655" cy="96012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50591"/>
            <a:ext cx="10362895" cy="822960"/>
          </a:xfrm>
          <a:prstGeom prst="rect">
            <a:avLst/>
          </a:prstGeom>
          <a:noFill/>
        </p:spPr>
        <p:txBody>
          <a:bodyPr wrap="square">
            <a:spAutoFit/>
          </a:bodyPr>
          <a:lstStyle/>
          <a:p>
            <a:pPr>
              <a:defRPr sz="1300" b="1">
                <a:solidFill>
                  <a:srgbClr val="D97706"/>
                </a:solidFill>
              </a:defRPr>
            </a:pPr>
            <a:r>
              <a:t>KHUYẾN NGHỊ 2 (Ưu tiên P2 - 6 tháng) - Tắt sóng 3G (Sunset 3G) và Tái quy hoạch băng tần:</a:t>
            </a:r>
          </a:p>
          <a:p>
            <a:pPr>
              <a:defRPr sz="1150">
                <a:solidFill>
                  <a:srgbClr val="0F172A"/>
                </a:solidFill>
              </a:defRPr>
            </a:pPr>
            <a:r>
              <a:t>👉 Hành động kỹ thuật: CDR của 3G gấp 8 lần 5G. Tái quy hoạch tần số 2100MHz sang cho mạng 4G/5G để tăng 40% dung lượng.</a:t>
            </a:r>
          </a:p>
        </p:txBody>
      </p:sp>
      <p:sp>
        <p:nvSpPr>
          <p:cNvPr id="10" name="Rounded Rectangle 9"/>
          <p:cNvSpPr/>
          <p:nvPr/>
        </p:nvSpPr>
        <p:spPr>
          <a:xfrm>
            <a:off x="731520" y="3429000"/>
            <a:ext cx="10728655" cy="9601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02152"/>
            <a:ext cx="10362895" cy="822960"/>
          </a:xfrm>
          <a:prstGeom prst="rect">
            <a:avLst/>
          </a:prstGeom>
          <a:noFill/>
        </p:spPr>
        <p:txBody>
          <a:bodyPr wrap="square">
            <a:spAutoFit/>
          </a:bodyPr>
          <a:lstStyle/>
          <a:p>
            <a:pPr>
              <a:defRPr sz="1300" b="1">
                <a:solidFill>
                  <a:srgbClr val="2563EB"/>
                </a:solidFill>
              </a:defRPr>
            </a:pPr>
            <a:r>
              <a:t>KHUYẾN NGHỊ 3 (Ưu tiên P3 - 2 tuần) - Kích hoạt tính năng Mạng tự tối ưu (SON):</a:t>
            </a:r>
          </a:p>
          <a:p>
            <a:pPr>
              <a:defRPr sz="1150">
                <a:solidFill>
                  <a:srgbClr val="0F172A"/>
                </a:solidFill>
              </a:defRPr>
            </a:pPr>
            <a:r>
              <a:t>👉 Hành động kỹ thuật: Bật tính năng Mobility Load Balancing tự động san tải thuê bao từ cell quá tải sang cell rảnh rỗi.</a:t>
            </a:r>
          </a:p>
        </p:txBody>
      </p:sp>
      <p:sp>
        <p:nvSpPr>
          <p:cNvPr id="12" name="Rounded Rectangle 11"/>
          <p:cNvSpPr/>
          <p:nvPr/>
        </p:nvSpPr>
        <p:spPr>
          <a:xfrm>
            <a:off x="731520" y="4480559"/>
            <a:ext cx="10728655" cy="96012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553712"/>
            <a:ext cx="10362895" cy="822960"/>
          </a:xfrm>
          <a:prstGeom prst="rect">
            <a:avLst/>
          </a:prstGeom>
          <a:noFill/>
        </p:spPr>
        <p:txBody>
          <a:bodyPr wrap="square">
            <a:spAutoFit/>
          </a:bodyPr>
          <a:lstStyle/>
          <a:p>
            <a:pPr>
              <a:defRPr sz="1300" b="1">
                <a:solidFill>
                  <a:srgbClr val="059669"/>
                </a:solidFill>
              </a:defRPr>
            </a:pPr>
            <a:r>
              <a:t>KHUYẾN NGHỊ 4 (Ưu tiên P4 - 1 tháng) - Chăm sóc khách hàng chủ động (Proactive CSKH):</a:t>
            </a:r>
          </a:p>
          <a:p>
            <a:pPr>
              <a:defRPr sz="1150">
                <a:solidFill>
                  <a:srgbClr val="0F172A"/>
                </a:solidFill>
              </a:defRPr>
            </a:pPr>
            <a:r>
              <a:t>👉 Hành động kỹ thuật: Tích hợp kết quả dự báo R vào CRM; tự động gửi SMS xin lỗi kèm voucher data khi thuê bao rớt mạng.</a:t>
            </a:r>
          </a:p>
        </p:txBody>
      </p:sp>
      <p:sp>
        <p:nvSpPr>
          <p:cNvPr id="14" name="Rounded Rectangle 13"/>
          <p:cNvSpPr/>
          <p:nvPr/>
        </p:nvSpPr>
        <p:spPr>
          <a:xfrm>
            <a:off x="731520" y="5532120"/>
            <a:ext cx="10728655" cy="960120"/>
          </a:xfrm>
          <a:prstGeom prst="roundRect">
            <a:avLst/>
          </a:prstGeom>
          <a:solidFill>
            <a:srgbClr val="F8FAFC"/>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605272"/>
            <a:ext cx="10362895" cy="822960"/>
          </a:xfrm>
          <a:prstGeom prst="rect">
            <a:avLst/>
          </a:prstGeom>
          <a:noFill/>
        </p:spPr>
        <p:txBody>
          <a:bodyPr wrap="square">
            <a:spAutoFit/>
          </a:bodyPr>
          <a:lstStyle/>
          <a:p>
            <a:pPr>
              <a:defRPr sz="1300" b="1">
                <a:solidFill>
                  <a:srgbClr val="7C3AED"/>
                </a:solidFill>
              </a:defRPr>
            </a:pPr>
            <a:r>
              <a:t>KHUYẾN NGHỊ 5 (Ưu tiên P5 - 3 tháng) - Tối ưu hóa Data Lake &amp; Định dạng Parquet:</a:t>
            </a:r>
          </a:p>
          <a:p>
            <a:pPr>
              <a:defRPr sz="1150">
                <a:solidFill>
                  <a:srgbClr val="0F172A"/>
                </a:solidFill>
              </a:defRPr>
            </a:pPr>
            <a:r>
              <a:t>👉 Hành động kỹ thuật: Lưu trữ Snappy Parquet tiết kiệm 65% đĩa; đặt chính sách TTL 90 ngày trên HBase dọn dẹp log cũ.</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pPr>
              <a:defRPr sz="1100" b="1">
                <a:solidFill>
                  <a:srgbClr val="94A3B8"/>
                </a:solidFill>
              </a:defRPr>
            </a:pPr>
            <a:r>
              <a:t>BÁO CÁO BÀI TẬP LỚN XỬ LÝ DỮ LIỆU LỚN (CTKU122)</a:t>
            </a:r>
          </a:p>
        </p:txBody>
      </p:sp>
      <p:sp>
        <p:nvSpPr>
          <p:cNvPr id="4" name="TextBox 3"/>
          <p:cNvSpPr txBox="1"/>
          <p:nvPr/>
        </p:nvSpPr>
        <p:spPr>
          <a:xfrm>
            <a:off x="731520" y="384048"/>
            <a:ext cx="10515600" cy="548640"/>
          </a:xfrm>
          <a:prstGeom prst="rect">
            <a:avLst/>
          </a:prstGeom>
          <a:noFill/>
        </p:spPr>
        <p:txBody>
          <a:bodyPr wrap="none">
            <a:spAutoFit/>
          </a:bodyPr>
          <a:lstStyle/>
          <a:p>
            <a:pPr>
              <a:defRPr sz="2200" b="1">
                <a:solidFill>
                  <a:srgbClr val="FFFFFF"/>
                </a:solidFill>
              </a:defRPr>
            </a:pPr>
            <a:r>
              <a:t>18. KẾT LUẬN VÀ HƯỚNG PHÁT TRIỂN TIẾP THEO</a:t>
            </a:r>
          </a:p>
        </p:txBody>
      </p:sp>
      <p:sp>
        <p:nvSpPr>
          <p:cNvPr id="5" name="Rectangle 4"/>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937760"/>
          </a:xfrm>
          <a:prstGeom prst="roundRect">
            <a:avLst/>
          </a:prstGeom>
          <a:solidFill>
            <a:srgbClr val="F0FDF4"/>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754880" cy="4572000"/>
          </a:xfrm>
          <a:prstGeom prst="rect">
            <a:avLst/>
          </a:prstGeom>
          <a:noFill/>
        </p:spPr>
        <p:txBody>
          <a:bodyPr wrap="square">
            <a:spAutoFit/>
          </a:bodyPr>
          <a:lstStyle/>
          <a:p>
            <a:pPr>
              <a:defRPr sz="1500" b="1">
                <a:solidFill>
                  <a:srgbClr val="059669"/>
                </a:solidFill>
              </a:defRPr>
            </a:pPr>
            <a:r>
              <a:t>CÁC KẾT QUẢ ĐẠT ĐƯỢC</a:t>
            </a:r>
          </a:p>
          <a:p>
            <a:pPr>
              <a:spcAft>
                <a:spcPts val="600"/>
              </a:spcAft>
              <a:defRPr sz="1200">
                <a:solidFill>
                  <a:srgbClr val="0F172A"/>
                </a:solidFill>
              </a:defRPr>
            </a:pPr>
            <a:r>
              <a:t>✅ Làm chủ hệ sinh thái Big Data: Tích hợp hoàn hảo Hadoop HDFS, YARN, Flume, Spark, Pig, HBase, BigSheets và R.</a:t>
            </a:r>
          </a:p>
          <a:p>
            <a:pPr>
              <a:spcAft>
                <a:spcPts val="600"/>
              </a:spcAft>
              <a:defRPr sz="1200">
                <a:solidFill>
                  <a:srgbClr val="0F172A"/>
                </a:solidFill>
              </a:defRPr>
            </a:pPr>
            <a:r>
              <a:t>✅ Thuật toán tối ưu hóa sâu: Thiết kế Composite Key và Custom Partitioner triệt tiêu Data Skew; Combiner giảm 80% I/O.</a:t>
            </a:r>
          </a:p>
          <a:p>
            <a:pPr>
              <a:spcAft>
                <a:spcPts val="600"/>
              </a:spcAft>
              <a:defRPr sz="1200">
                <a:solidFill>
                  <a:srgbClr val="0F172A"/>
                </a:solidFill>
              </a:defRPr>
            </a:pPr>
            <a:r>
              <a:t>✅ Giải quyết 3 mục tiêu cốt lõi: Định lượng nguyên nhân gây trễ cao, mất gói và rớt cuộc gọi; cô lập chính xác trạm nghẽn.</a:t>
            </a:r>
          </a:p>
          <a:p>
            <a:pPr>
              <a:spcAft>
                <a:spcPts val="600"/>
              </a:spcAft>
              <a:defRPr sz="1200">
                <a:solidFill>
                  <a:srgbClr val="0F172A"/>
                </a:solidFill>
              </a:defRPr>
            </a:pPr>
            <a:r>
              <a:t>✅ Mô hình học máy thực tiễn: Hồi quy Logistic bằng R đạt độ tin cậy cao, lượng hóa nguy cơ khiếu nại khách hàng.</a:t>
            </a:r>
          </a:p>
          <a:p>
            <a:pPr>
              <a:spcAft>
                <a:spcPts val="600"/>
              </a:spcAft>
              <a:defRPr sz="1200">
                <a:solidFill>
                  <a:srgbClr val="0F172A"/>
                </a:solidFill>
              </a:defRPr>
            </a:pPr>
            <a:r>
              <a:t>✅ Đóng gói bàn giao trọn vẹn: Đầy đủ Báo cáo Word/PDF, Slide thuyết minh, SourceCode, Data, Output và README.md.</a:t>
            </a:r>
          </a:p>
        </p:txBody>
      </p:sp>
      <p:sp>
        <p:nvSpPr>
          <p:cNvPr id="8" name="Rounded Rectangle 7"/>
          <p:cNvSpPr/>
          <p:nvPr/>
        </p:nvSpPr>
        <p:spPr>
          <a:xfrm>
            <a:off x="6217920" y="1371600"/>
            <a:ext cx="5212080" cy="493776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572000"/>
          </a:xfrm>
          <a:prstGeom prst="rect">
            <a:avLst/>
          </a:prstGeom>
          <a:noFill/>
        </p:spPr>
        <p:txBody>
          <a:bodyPr wrap="square">
            <a:spAutoFit/>
          </a:bodyPr>
          <a:lstStyle/>
          <a:p>
            <a:pPr>
              <a:defRPr sz="1500" b="1">
                <a:solidFill>
                  <a:srgbClr val="2563EB"/>
                </a:solidFill>
              </a:defRPr>
            </a:pPr>
            <a:r>
              <a:t>HƯỚNG PHÁT TRIỂN TƯƠNG LAI</a:t>
            </a:r>
          </a:p>
          <a:p>
            <a:pPr>
              <a:spcBef>
                <a:spcPts val="400"/>
              </a:spcBef>
              <a:defRPr sz="1200" b="1">
                <a:solidFill>
                  <a:srgbClr val="0F172A"/>
                </a:solidFill>
              </a:defRPr>
            </a:pPr>
            <a:r>
              <a:t>🚀 Kiến trúc Streaming Sub-second: </a:t>
            </a:r>
          </a:p>
          <a:p>
            <a:pPr>
              <a:spcAft>
                <a:spcPts val="400"/>
              </a:spcAft>
              <a:defRPr sz="1100">
                <a:solidFill>
                  <a:srgbClr val="334155"/>
                </a:solidFill>
              </a:defRPr>
            </a:pPr>
            <a:r>
              <a:t>Triển khai cụm Apache Kafka phân tán độc lập và Apache Flink xử lý luồng sự kiện theo cửa sổ trượt (Sliding Windows) với độ trễ &lt; 50ms.</a:t>
            </a:r>
          </a:p>
          <a:p>
            <a:pPr>
              <a:spcBef>
                <a:spcPts val="400"/>
              </a:spcBef>
              <a:defRPr sz="1200" b="1">
                <a:solidFill>
                  <a:srgbClr val="0F172A"/>
                </a:solidFill>
              </a:defRPr>
            </a:pPr>
            <a:r>
              <a:t>🚀 Ứng dụng AIOps &amp; Deep Learning: </a:t>
            </a:r>
          </a:p>
          <a:p>
            <a:pPr>
              <a:spcAft>
                <a:spcPts val="400"/>
              </a:spcAft>
              <a:defRPr sz="1100">
                <a:solidFill>
                  <a:srgbClr val="334155"/>
                </a:solidFill>
              </a:defRPr>
            </a:pPr>
            <a:r>
              <a:t>Nghiên cứu áp dụng mạng nơ-ron đồ thị (GNN) và LSTM để tự động phát hiện bất thường trên toàn mạng và dự báo trước sự cố truyền dẫn 30 - 60 phút.</a:t>
            </a:r>
          </a:p>
          <a:p>
            <a:pPr>
              <a:spcBef>
                <a:spcPts val="400"/>
              </a:spcBef>
              <a:defRPr sz="1200" b="1">
                <a:solidFill>
                  <a:srgbClr val="0F172A"/>
                </a:solidFill>
              </a:defRPr>
            </a:pPr>
            <a:r>
              <a:t>🚀 Mạng tự tối ưu vòng kín (Closed-Loop SON): </a:t>
            </a:r>
          </a:p>
          <a:p>
            <a:pPr>
              <a:spcAft>
                <a:spcPts val="400"/>
              </a:spcAft>
              <a:defRPr sz="1100">
                <a:solidFill>
                  <a:srgbClr val="334155"/>
                </a:solidFill>
              </a:defRPr>
            </a:pPr>
            <a:r>
              <a:t>Tự động gửi tham số điều chỉnh công suất phát và góc ngửa anten trực tiếp xuống bộ điều khiển RAN Controller không cần can thiệp thủ công.</a:t>
            </a:r>
          </a:p>
          <a:p>
            <a:pPr>
              <a:spcBef>
                <a:spcPts val="400"/>
              </a:spcBef>
              <a:defRPr sz="1200" b="1">
                <a:solidFill>
                  <a:srgbClr val="0F172A"/>
                </a:solidFill>
              </a:defRPr>
            </a:pPr>
            <a:r>
              <a:t>🚀 Thử nghiệm cụm máy chủ vật lý đa Node: </a:t>
            </a:r>
          </a:p>
          <a:p>
            <a:pPr>
              <a:spcAft>
                <a:spcPts val="400"/>
              </a:spcAft>
              <a:defRPr sz="1100">
                <a:solidFill>
                  <a:srgbClr val="334155"/>
                </a:solidFill>
              </a:defRPr>
            </a:pPr>
            <a:r>
              <a:t>Mở rộng kiểm thử tải thực tế trên cụm máy chủ vật lý phân tán quy mô 10 - 20 node trong môi trường nhà mạng.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2895" cy="2743200"/>
          </a:xfrm>
          <a:prstGeom prst="rect">
            <a:avLst/>
          </a:prstGeom>
          <a:noFill/>
        </p:spPr>
        <p:txBody>
          <a:bodyPr wrap="square">
            <a:spAutoFit/>
          </a:bodyPr>
          <a:lstStyle/>
          <a:p>
            <a:pPr algn="ctr">
              <a:defRPr sz="3600" b="1">
                <a:solidFill>
                  <a:srgbClr val="D97706"/>
                </a:solidFill>
              </a:defRPr>
            </a:pPr>
            <a:r>
              <a:t>XIN TRÂN TRỌNG CẢM ƠN!</a:t>
            </a:r>
          </a:p>
          <a:p>
            <a:pPr algn="ctr">
              <a:defRPr sz="1600">
                <a:solidFill>
                  <a:srgbClr val="FFFFFF"/>
                </a:solidFill>
              </a:defRPr>
            </a:pPr>
            <a:r>
              <a:t>CẢM ƠN QUÝ THẦY CÔ VÀ HỘI ĐỒNG ĐÃ LẮNG NGHE BÀI THUYẾT MINH</a:t>
            </a:r>
          </a:p>
          <a:p>
            <a:br/>
            <a:pPr algn="ctr">
              <a:defRPr sz="1800" b="1">
                <a:solidFill>
                  <a:srgbClr val="38BDF8"/>
                </a:solidFill>
              </a:defRPr>
            </a:pPr>
            <a:r>
              <a:t>KÍNH MỜI QUÝ THẦY CÔ VÀ CÁC BẠN ĐẶT CÂU HỎI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